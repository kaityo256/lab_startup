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1"/>
  </p:sldMasterIdLst>
  <p:notesMasterIdLst>
    <p:notesMasterId r:id="rId19"/>
  </p:notesMasterIdLst>
  <p:sldIdLst>
    <p:sldId id="256" r:id="rId2"/>
    <p:sldId id="370" r:id="rId3"/>
    <p:sldId id="377" r:id="rId4"/>
    <p:sldId id="371" r:id="rId5"/>
    <p:sldId id="372" r:id="rId6"/>
    <p:sldId id="373" r:id="rId7"/>
    <p:sldId id="374" r:id="rId8"/>
    <p:sldId id="378" r:id="rId9"/>
    <p:sldId id="379" r:id="rId10"/>
    <p:sldId id="380" r:id="rId11"/>
    <p:sldId id="381" r:id="rId12"/>
    <p:sldId id="382" r:id="rId13"/>
    <p:sldId id="383" r:id="rId14"/>
    <p:sldId id="384" r:id="rId15"/>
    <p:sldId id="385" r:id="rId16"/>
    <p:sldId id="386" r:id="rId17"/>
    <p:sldId id="387" r:id="rId18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ECFF"/>
    <a:srgbClr val="FFCCFF"/>
    <a:srgbClr val="CCFFFF"/>
    <a:srgbClr val="FF8AD8"/>
    <a:srgbClr val="FF99CC"/>
    <a:srgbClr val="CCFFCC"/>
    <a:srgbClr val="FFFFCC"/>
    <a:srgbClr val="011893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 autoAdjust="0"/>
    <p:restoredTop sz="93971" autoAdjust="0"/>
  </p:normalViewPr>
  <p:slideViewPr>
    <p:cSldViewPr>
      <p:cViewPr varScale="1">
        <p:scale>
          <a:sx n="119" d="100"/>
          <a:sy n="119" d="100"/>
        </p:scale>
        <p:origin x="1524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8D1B20-A248-FB47-8240-73C0C5F47C9D}" type="datetimeFigureOut">
              <a:t>2026/2/19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FA746F-AF1F-C048-A2ED-B38EF01E9631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597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FA746F-AF1F-C048-A2ED-B38EF01E9631}" type="slidenum">
              <a:rPr lang="en-US" altLang="ja-JP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251971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円/楕円 3">
            <a:extLst>
              <a:ext uri="{FF2B5EF4-FFF2-40B4-BE49-F238E27FC236}">
                <a16:creationId xmlns:a16="http://schemas.microsoft.com/office/drawing/2014/main" id="{40BD511A-FE9E-B641-A323-1F2451D0C873}"/>
              </a:ext>
            </a:extLst>
          </p:cNvPr>
          <p:cNvSpPr/>
          <p:nvPr userDrawn="1"/>
        </p:nvSpPr>
        <p:spPr>
          <a:xfrm>
            <a:off x="8651631" y="6350558"/>
            <a:ext cx="411982" cy="41198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50">
              <a:latin typeface="+mj-ea"/>
              <a:ea typeface="+mj-ea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0A01A1C-B0C5-904D-963A-785848775F4A}"/>
              </a:ext>
            </a:extLst>
          </p:cNvPr>
          <p:cNvSpPr txBox="1"/>
          <p:nvPr userDrawn="1"/>
        </p:nvSpPr>
        <p:spPr>
          <a:xfrm>
            <a:off x="8661679" y="6400799"/>
            <a:ext cx="4010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E8E17320-8F29-C346-80F3-7693511BE498}" type="slidenum">
              <a:rPr kumimoji="1" lang="ja-JP" altLang="en-US" sz="1400"/>
              <a:pPr algn="ctr"/>
              <a:t>‹#›</a:t>
            </a:fld>
            <a:endParaRPr kumimoji="1" lang="ja-JP" altLang="en-US" sz="1400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1977278B-6103-7448-8885-11FCA29D84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190133"/>
            <a:ext cx="9144000" cy="7540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000">
                <a:ln>
                  <a:solidFill>
                    <a:srgbClr val="011893"/>
                  </a:solidFill>
                </a:ln>
              </a:defRPr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4781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9306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kumimoji="1" sz="26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44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28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6C4099E-EB60-DC4F-967D-225ED88E614D}"/>
              </a:ext>
            </a:extLst>
          </p:cNvPr>
          <p:cNvSpPr txBox="1"/>
          <p:nvPr/>
        </p:nvSpPr>
        <p:spPr>
          <a:xfrm>
            <a:off x="0" y="124968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>
                <a:solidFill>
                  <a:srgbClr val="011893"/>
                </a:solidFill>
              </a:rPr>
              <a:t>論文の読み方</a:t>
            </a:r>
            <a:endParaRPr kumimoji="1" lang="ja-JP" altLang="en-US" sz="3200" dirty="0">
              <a:solidFill>
                <a:srgbClr val="011893"/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91C33B1-D329-9348-9718-97E836138DF6}"/>
              </a:ext>
            </a:extLst>
          </p:cNvPr>
          <p:cNvSpPr txBox="1"/>
          <p:nvPr/>
        </p:nvSpPr>
        <p:spPr>
          <a:xfrm>
            <a:off x="3627120" y="5242560"/>
            <a:ext cx="5416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慶應義塾大学理工学部物理情報工学科</a:t>
            </a:r>
            <a:endParaRPr lang="en-US" altLang="ja-JP" sz="240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F5EEEB6-32A6-914E-957E-5C31A877EF9C}"/>
              </a:ext>
            </a:extLst>
          </p:cNvPr>
          <p:cNvSpPr txBox="1"/>
          <p:nvPr/>
        </p:nvSpPr>
        <p:spPr>
          <a:xfrm>
            <a:off x="8172400" y="5661248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渡辺</a:t>
            </a:r>
            <a:endParaRPr lang="en-US" altLang="ja-JP" sz="240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5E05EE1-8957-9F44-8F8E-6BD27683056C}"/>
              </a:ext>
            </a:extLst>
          </p:cNvPr>
          <p:cNvSpPr txBox="1"/>
          <p:nvPr/>
        </p:nvSpPr>
        <p:spPr>
          <a:xfrm>
            <a:off x="3271520" y="4338320"/>
            <a:ext cx="28846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4000" dirty="0"/>
              <a:t>2025/0</a:t>
            </a:r>
            <a:r>
              <a:rPr lang="en-US" altLang="ja-JP" sz="4000" dirty="0"/>
              <a:t>2</a:t>
            </a:r>
            <a:r>
              <a:rPr kumimoji="1" lang="en-US" altLang="ja-JP" sz="4000" dirty="0"/>
              <a:t>/19</a:t>
            </a:r>
            <a:endParaRPr kumimoji="1" lang="ja-JP" altLang="en-US" sz="4000" dirty="0"/>
          </a:p>
        </p:txBody>
      </p:sp>
    </p:spTree>
    <p:extLst>
      <p:ext uri="{BB962C8B-B14F-4D97-AF65-F5344CB8AC3E}">
        <p14:creationId xmlns:p14="http://schemas.microsoft.com/office/powerpoint/2010/main" val="4079533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 dirty="0"/>
              <a:t>初めての論文</a:t>
            </a:r>
            <a:endParaRPr kumimoji="1" lang="ja-JP" altLang="en-US" dirty="0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539552" y="980728"/>
            <a:ext cx="772519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/>
              <a:t>指導教員に「この論文読んでみて」と言われた</a:t>
            </a:r>
            <a:endParaRPr lang="en-US" altLang="ja-JP" sz="2800" dirty="0"/>
          </a:p>
          <a:p>
            <a:r>
              <a:rPr kumimoji="1" lang="ja-JP" altLang="en-US" sz="2800" dirty="0"/>
              <a:t>→まずやるべきことは？</a:t>
            </a:r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768" y="2132856"/>
            <a:ext cx="3672408" cy="1828522"/>
          </a:xfrm>
          <a:prstGeom prst="rect">
            <a:avLst/>
          </a:prstGeom>
        </p:spPr>
      </p:pic>
      <p:pic>
        <p:nvPicPr>
          <p:cNvPr id="1030" name="Picture 6" descr="バツのマークのイラスト「×」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4437112"/>
            <a:ext cx="864096" cy="864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丸のマークのイラスト「○」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5673217"/>
            <a:ext cx="720079" cy="720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テキスト ボックス 4"/>
          <p:cNvSpPr txBox="1"/>
          <p:nvPr/>
        </p:nvSpPr>
        <p:spPr>
          <a:xfrm>
            <a:off x="1259632" y="4576773"/>
            <a:ext cx="67505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dirty="0"/>
              <a:t>その論文を熟読して内容を理解する</a:t>
            </a:r>
            <a:endParaRPr kumimoji="1" lang="ja-JP" altLang="en-US" sz="3200" dirty="0"/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1259632" y="5740869"/>
            <a:ext cx="71609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dirty="0"/>
              <a:t>その論文の研究上の位置づけを調べる</a:t>
            </a:r>
            <a:endParaRPr kumimoji="1" lang="ja-JP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772678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研究の流れ</a:t>
            </a: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395536" y="1556792"/>
            <a:ext cx="4032448" cy="720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dirty="0"/>
              <a:t>把握すべきこと</a:t>
            </a: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043608" y="2636912"/>
            <a:ext cx="750718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ja-JP" altLang="en-US" sz="3200" dirty="0"/>
              <a:t>起点となる研究</a:t>
            </a:r>
            <a:r>
              <a:rPr kumimoji="1" lang="en-US" altLang="ja-JP" sz="3200" dirty="0"/>
              <a:t>(</a:t>
            </a:r>
            <a:r>
              <a:rPr kumimoji="1" lang="ja-JP" altLang="en-US" sz="3200" dirty="0"/>
              <a:t>祖先</a:t>
            </a:r>
            <a:r>
              <a:rPr kumimoji="1" lang="en-US" altLang="ja-JP" sz="3200" dirty="0"/>
              <a:t>)</a:t>
            </a:r>
            <a:r>
              <a:rPr kumimoji="1" lang="ja-JP" altLang="en-US" sz="3200" dirty="0"/>
              <a:t>はどれか</a:t>
            </a:r>
            <a:endParaRPr kumimoji="1" lang="en-US" altLang="ja-JP" sz="3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ja-JP" altLang="en-US" sz="3200" dirty="0"/>
              <a:t>他にはどのようなアプローチが</a:t>
            </a:r>
            <a:r>
              <a:rPr lang="ja-JP" altLang="en-US" sz="3200" dirty="0"/>
              <a:t>あ</a:t>
            </a:r>
            <a:r>
              <a:rPr kumimoji="1" lang="ja-JP" altLang="en-US" sz="3200" dirty="0"/>
              <a:t>るか</a:t>
            </a:r>
            <a:endParaRPr kumimoji="1" lang="en-US" altLang="ja-JP" sz="3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ja-JP" altLang="en-US" sz="3200" dirty="0"/>
              <a:t>直接の「親」となる論文はどれか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467544" y="5589240"/>
            <a:ext cx="82638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rgbClr val="FF0000"/>
                </a:solidFill>
              </a:rPr>
              <a:t>特に「他にどのようなアプローチがあるか」は必ず聞かれるので把握しておく</a:t>
            </a:r>
          </a:p>
        </p:txBody>
      </p:sp>
    </p:spTree>
    <p:extLst>
      <p:ext uri="{BB962C8B-B14F-4D97-AF65-F5344CB8AC3E}">
        <p14:creationId xmlns:p14="http://schemas.microsoft.com/office/powerpoint/2010/main" val="814564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研究の流れ</a:t>
            </a: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1619672" y="836712"/>
            <a:ext cx="58272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dirty="0"/>
              <a:t>研究には「流れ」がある</a:t>
            </a:r>
          </a:p>
        </p:txBody>
      </p:sp>
      <p:sp>
        <p:nvSpPr>
          <p:cNvPr id="4" name="楕円 3"/>
          <p:cNvSpPr/>
          <p:nvPr/>
        </p:nvSpPr>
        <p:spPr>
          <a:xfrm>
            <a:off x="3203848" y="1628800"/>
            <a:ext cx="288032" cy="288032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" name="直線矢印コネクタ 5"/>
          <p:cNvCxnSpPr/>
          <p:nvPr/>
        </p:nvCxnSpPr>
        <p:spPr>
          <a:xfrm>
            <a:off x="1619672" y="2204864"/>
            <a:ext cx="0" cy="424847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/>
          <p:cNvSpPr txBox="1"/>
          <p:nvPr/>
        </p:nvSpPr>
        <p:spPr>
          <a:xfrm>
            <a:off x="1259632" y="177281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時間</a:t>
            </a: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3563888" y="1556792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画期的な論文</a:t>
            </a:r>
            <a:endParaRPr kumimoji="1" lang="ja-JP" altLang="en-US" dirty="0"/>
          </a:p>
        </p:txBody>
      </p:sp>
      <p:sp>
        <p:nvSpPr>
          <p:cNvPr id="9" name="楕円 8"/>
          <p:cNvSpPr/>
          <p:nvPr/>
        </p:nvSpPr>
        <p:spPr>
          <a:xfrm>
            <a:off x="2483768" y="2132856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楕円 9"/>
          <p:cNvSpPr/>
          <p:nvPr/>
        </p:nvSpPr>
        <p:spPr>
          <a:xfrm>
            <a:off x="2987824" y="2132856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楕円 10"/>
          <p:cNvSpPr/>
          <p:nvPr/>
        </p:nvSpPr>
        <p:spPr>
          <a:xfrm>
            <a:off x="3491880" y="2132856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楕円 11"/>
          <p:cNvSpPr/>
          <p:nvPr/>
        </p:nvSpPr>
        <p:spPr>
          <a:xfrm>
            <a:off x="3995936" y="2132856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楕円 12"/>
          <p:cNvSpPr/>
          <p:nvPr/>
        </p:nvSpPr>
        <p:spPr>
          <a:xfrm>
            <a:off x="2123728" y="2780928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4" name="楕円 13"/>
          <p:cNvSpPr/>
          <p:nvPr/>
        </p:nvSpPr>
        <p:spPr>
          <a:xfrm>
            <a:off x="2627784" y="2780928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5" name="楕円 14"/>
          <p:cNvSpPr/>
          <p:nvPr/>
        </p:nvSpPr>
        <p:spPr>
          <a:xfrm>
            <a:off x="3131840" y="2780928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6" name="楕円 15"/>
          <p:cNvSpPr/>
          <p:nvPr/>
        </p:nvSpPr>
        <p:spPr>
          <a:xfrm>
            <a:off x="3635896" y="2780928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7" name="楕円 16"/>
          <p:cNvSpPr/>
          <p:nvPr/>
        </p:nvSpPr>
        <p:spPr>
          <a:xfrm>
            <a:off x="4139952" y="2780928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8" name="楕円 17"/>
          <p:cNvSpPr/>
          <p:nvPr/>
        </p:nvSpPr>
        <p:spPr>
          <a:xfrm>
            <a:off x="4644008" y="2780928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cxnSp>
        <p:nvCxnSpPr>
          <p:cNvPr id="23" name="カギ線コネクタ 22"/>
          <p:cNvCxnSpPr>
            <a:stCxn id="4" idx="4"/>
            <a:endCxn id="9" idx="0"/>
          </p:cNvCxnSpPr>
          <p:nvPr/>
        </p:nvCxnSpPr>
        <p:spPr>
          <a:xfrm rot="5400000">
            <a:off x="2879812" y="1664804"/>
            <a:ext cx="216024" cy="720080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カギ線コネクタ 24"/>
          <p:cNvCxnSpPr>
            <a:stCxn id="4" idx="4"/>
            <a:endCxn id="10" idx="0"/>
          </p:cNvCxnSpPr>
          <p:nvPr/>
        </p:nvCxnSpPr>
        <p:spPr>
          <a:xfrm rot="5400000">
            <a:off x="3131840" y="1916832"/>
            <a:ext cx="216024" cy="216024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カギ線コネクタ 26"/>
          <p:cNvCxnSpPr>
            <a:stCxn id="4" idx="4"/>
            <a:endCxn id="11" idx="0"/>
          </p:cNvCxnSpPr>
          <p:nvPr/>
        </p:nvCxnSpPr>
        <p:spPr>
          <a:xfrm rot="16200000" flipH="1">
            <a:off x="3383868" y="1880828"/>
            <a:ext cx="216024" cy="288032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カギ線コネクタ 28"/>
          <p:cNvCxnSpPr>
            <a:stCxn id="4" idx="4"/>
            <a:endCxn id="12" idx="0"/>
          </p:cNvCxnSpPr>
          <p:nvPr/>
        </p:nvCxnSpPr>
        <p:spPr>
          <a:xfrm rot="16200000" flipH="1">
            <a:off x="3635896" y="1628800"/>
            <a:ext cx="216024" cy="792088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カギ線コネクタ 36"/>
          <p:cNvCxnSpPr/>
          <p:nvPr/>
        </p:nvCxnSpPr>
        <p:spPr>
          <a:xfrm rot="10800000" flipV="1">
            <a:off x="3275856" y="2564904"/>
            <a:ext cx="864096" cy="432048"/>
          </a:xfrm>
          <a:prstGeom prst="bentConnector2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カギ線コネクタ 39"/>
          <p:cNvCxnSpPr/>
          <p:nvPr/>
        </p:nvCxnSpPr>
        <p:spPr>
          <a:xfrm rot="5400000">
            <a:off x="3707904" y="2492896"/>
            <a:ext cx="504056" cy="360040"/>
          </a:xfrm>
          <a:prstGeom prst="bentConnector3">
            <a:avLst>
              <a:gd name="adj1" fmla="val 26338"/>
            </a:avLst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カギ線コネクタ 43"/>
          <p:cNvCxnSpPr>
            <a:stCxn id="9" idx="4"/>
            <a:endCxn id="13" idx="0"/>
          </p:cNvCxnSpPr>
          <p:nvPr/>
        </p:nvCxnSpPr>
        <p:spPr>
          <a:xfrm rot="5400000">
            <a:off x="2267744" y="2420888"/>
            <a:ext cx="360040" cy="360040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カギ線コネクタ 45"/>
          <p:cNvCxnSpPr>
            <a:stCxn id="10" idx="4"/>
            <a:endCxn id="14" idx="0"/>
          </p:cNvCxnSpPr>
          <p:nvPr/>
        </p:nvCxnSpPr>
        <p:spPr>
          <a:xfrm rot="5400000">
            <a:off x="2771800" y="2420888"/>
            <a:ext cx="360040" cy="360040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カギ線コネクタ 47"/>
          <p:cNvCxnSpPr>
            <a:stCxn id="12" idx="4"/>
            <a:endCxn id="17" idx="0"/>
          </p:cNvCxnSpPr>
          <p:nvPr/>
        </p:nvCxnSpPr>
        <p:spPr>
          <a:xfrm rot="16200000" flipH="1">
            <a:off x="4031940" y="2528900"/>
            <a:ext cx="360040" cy="144016"/>
          </a:xfrm>
          <a:prstGeom prst="bentConnector3">
            <a:avLst>
              <a:gd name="adj1" fmla="val 36197"/>
            </a:avLst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カギ線コネクタ 50"/>
          <p:cNvCxnSpPr>
            <a:stCxn id="12" idx="4"/>
            <a:endCxn id="18" idx="1"/>
          </p:cNvCxnSpPr>
          <p:nvPr/>
        </p:nvCxnSpPr>
        <p:spPr>
          <a:xfrm rot="16200000" flipH="1">
            <a:off x="4211960" y="2348879"/>
            <a:ext cx="402221" cy="546237"/>
          </a:xfrm>
          <a:prstGeom prst="bentConnector3">
            <a:avLst>
              <a:gd name="adj1" fmla="val 30232"/>
            </a:avLst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テキスト ボックス 53"/>
          <p:cNvSpPr txBox="1"/>
          <p:nvPr/>
        </p:nvSpPr>
        <p:spPr>
          <a:xfrm>
            <a:off x="5364088" y="2276872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大量のフォロワーが現れる</a:t>
            </a:r>
          </a:p>
        </p:txBody>
      </p:sp>
      <p:sp>
        <p:nvSpPr>
          <p:cNvPr id="56" name="楕円 55"/>
          <p:cNvSpPr/>
          <p:nvPr/>
        </p:nvSpPr>
        <p:spPr>
          <a:xfrm>
            <a:off x="2915816" y="3356992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57" name="楕円 56"/>
          <p:cNvSpPr/>
          <p:nvPr/>
        </p:nvSpPr>
        <p:spPr>
          <a:xfrm>
            <a:off x="3923928" y="3356992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58" name="楕円 57"/>
          <p:cNvSpPr/>
          <p:nvPr/>
        </p:nvSpPr>
        <p:spPr>
          <a:xfrm>
            <a:off x="3419872" y="3933056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cxnSp>
        <p:nvCxnSpPr>
          <p:cNvPr id="62" name="カギ線コネクタ 61"/>
          <p:cNvCxnSpPr>
            <a:stCxn id="17" idx="4"/>
            <a:endCxn id="57" idx="0"/>
          </p:cNvCxnSpPr>
          <p:nvPr/>
        </p:nvCxnSpPr>
        <p:spPr>
          <a:xfrm rot="5400000">
            <a:off x="4031940" y="3104964"/>
            <a:ext cx="288032" cy="216024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カギ線コネクタ 63"/>
          <p:cNvCxnSpPr>
            <a:stCxn id="14" idx="4"/>
            <a:endCxn id="56" idx="0"/>
          </p:cNvCxnSpPr>
          <p:nvPr/>
        </p:nvCxnSpPr>
        <p:spPr>
          <a:xfrm rot="16200000" flipH="1">
            <a:off x="2771800" y="3068960"/>
            <a:ext cx="288032" cy="288032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カギ線コネクタ 65"/>
          <p:cNvCxnSpPr>
            <a:stCxn id="56" idx="4"/>
            <a:endCxn id="58" idx="0"/>
          </p:cNvCxnSpPr>
          <p:nvPr/>
        </p:nvCxnSpPr>
        <p:spPr>
          <a:xfrm rot="16200000" flipH="1">
            <a:off x="3167844" y="3537012"/>
            <a:ext cx="288032" cy="504056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テキスト ボックス 66"/>
          <p:cNvSpPr txBox="1"/>
          <p:nvPr/>
        </p:nvSpPr>
        <p:spPr>
          <a:xfrm>
            <a:off x="5436096" y="3573016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停滞期</a:t>
            </a:r>
            <a:endParaRPr kumimoji="1" lang="ja-JP" altLang="en-US" dirty="0"/>
          </a:p>
        </p:txBody>
      </p:sp>
      <p:sp>
        <p:nvSpPr>
          <p:cNvPr id="68" name="右中かっこ 67"/>
          <p:cNvSpPr/>
          <p:nvPr/>
        </p:nvSpPr>
        <p:spPr>
          <a:xfrm>
            <a:off x="5004048" y="2132856"/>
            <a:ext cx="299464" cy="914400"/>
          </a:xfrm>
          <a:prstGeom prst="rightBrac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9" name="右中かっこ 68"/>
          <p:cNvSpPr/>
          <p:nvPr/>
        </p:nvSpPr>
        <p:spPr>
          <a:xfrm>
            <a:off x="5004048" y="3284984"/>
            <a:ext cx="299464" cy="914400"/>
          </a:xfrm>
          <a:prstGeom prst="rightBrac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0" name="楕円 69"/>
          <p:cNvSpPr/>
          <p:nvPr/>
        </p:nvSpPr>
        <p:spPr>
          <a:xfrm>
            <a:off x="3203848" y="4581128"/>
            <a:ext cx="288032" cy="288032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3" name="テキスト ボックス 72"/>
          <p:cNvSpPr txBox="1"/>
          <p:nvPr/>
        </p:nvSpPr>
        <p:spPr>
          <a:xfrm>
            <a:off x="3491880" y="4509120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画期的な論文</a:t>
            </a:r>
            <a:endParaRPr kumimoji="1" lang="ja-JP" altLang="en-US" dirty="0"/>
          </a:p>
        </p:txBody>
      </p:sp>
      <p:sp>
        <p:nvSpPr>
          <p:cNvPr id="75" name="楕円 74"/>
          <p:cNvSpPr/>
          <p:nvPr/>
        </p:nvSpPr>
        <p:spPr>
          <a:xfrm>
            <a:off x="2411760" y="5085184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6" name="楕円 75"/>
          <p:cNvSpPr/>
          <p:nvPr/>
        </p:nvSpPr>
        <p:spPr>
          <a:xfrm>
            <a:off x="2915816" y="5085184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7" name="楕円 76"/>
          <p:cNvSpPr/>
          <p:nvPr/>
        </p:nvSpPr>
        <p:spPr>
          <a:xfrm>
            <a:off x="3419872" y="5085184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8" name="楕円 77"/>
          <p:cNvSpPr/>
          <p:nvPr/>
        </p:nvSpPr>
        <p:spPr>
          <a:xfrm>
            <a:off x="3923928" y="5085184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9" name="楕円 78"/>
          <p:cNvSpPr/>
          <p:nvPr/>
        </p:nvSpPr>
        <p:spPr>
          <a:xfrm>
            <a:off x="2051720" y="5733256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80" name="楕円 79"/>
          <p:cNvSpPr/>
          <p:nvPr/>
        </p:nvSpPr>
        <p:spPr>
          <a:xfrm>
            <a:off x="2555776" y="5733256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81" name="楕円 80"/>
          <p:cNvSpPr/>
          <p:nvPr/>
        </p:nvSpPr>
        <p:spPr>
          <a:xfrm>
            <a:off x="3059832" y="5733256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82" name="楕円 81"/>
          <p:cNvSpPr/>
          <p:nvPr/>
        </p:nvSpPr>
        <p:spPr>
          <a:xfrm>
            <a:off x="3563888" y="5733256"/>
            <a:ext cx="288032" cy="288032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83" name="楕円 82"/>
          <p:cNvSpPr/>
          <p:nvPr/>
        </p:nvSpPr>
        <p:spPr>
          <a:xfrm>
            <a:off x="4067944" y="5733256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84" name="楕円 83"/>
          <p:cNvSpPr/>
          <p:nvPr/>
        </p:nvSpPr>
        <p:spPr>
          <a:xfrm>
            <a:off x="4572000" y="5733256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cxnSp>
        <p:nvCxnSpPr>
          <p:cNvPr id="90" name="カギ線コネクタ 89"/>
          <p:cNvCxnSpPr>
            <a:stCxn id="78" idx="4"/>
            <a:endCxn id="84" idx="1"/>
          </p:cNvCxnSpPr>
          <p:nvPr/>
        </p:nvCxnSpPr>
        <p:spPr>
          <a:xfrm rot="16200000" flipH="1">
            <a:off x="4139952" y="5301207"/>
            <a:ext cx="402221" cy="546237"/>
          </a:xfrm>
          <a:prstGeom prst="bentConnector3">
            <a:avLst>
              <a:gd name="adj1" fmla="val 30232"/>
            </a:avLst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カギ線コネクタ 91"/>
          <p:cNvCxnSpPr>
            <a:stCxn id="77" idx="4"/>
            <a:endCxn id="83" idx="0"/>
          </p:cNvCxnSpPr>
          <p:nvPr/>
        </p:nvCxnSpPr>
        <p:spPr>
          <a:xfrm rot="16200000" flipH="1">
            <a:off x="3707904" y="5229200"/>
            <a:ext cx="360040" cy="648072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カギ線コネクタ 93"/>
          <p:cNvCxnSpPr>
            <a:stCxn id="77" idx="4"/>
            <a:endCxn id="82" idx="0"/>
          </p:cNvCxnSpPr>
          <p:nvPr/>
        </p:nvCxnSpPr>
        <p:spPr>
          <a:xfrm rot="16200000" flipH="1">
            <a:off x="3455876" y="5481228"/>
            <a:ext cx="360040" cy="144016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カギ線コネクタ 95"/>
          <p:cNvCxnSpPr>
            <a:stCxn id="77" idx="4"/>
            <a:endCxn id="81" idx="0"/>
          </p:cNvCxnSpPr>
          <p:nvPr/>
        </p:nvCxnSpPr>
        <p:spPr>
          <a:xfrm rot="5400000">
            <a:off x="3203848" y="5373216"/>
            <a:ext cx="360040" cy="360040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カギ線コネクタ 98"/>
          <p:cNvCxnSpPr>
            <a:stCxn id="76" idx="4"/>
            <a:endCxn id="80" idx="0"/>
          </p:cNvCxnSpPr>
          <p:nvPr/>
        </p:nvCxnSpPr>
        <p:spPr>
          <a:xfrm rot="5400000">
            <a:off x="2699792" y="5373216"/>
            <a:ext cx="360040" cy="360040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カギ線コネクタ 100"/>
          <p:cNvCxnSpPr>
            <a:stCxn id="75" idx="4"/>
            <a:endCxn id="79" idx="0"/>
          </p:cNvCxnSpPr>
          <p:nvPr/>
        </p:nvCxnSpPr>
        <p:spPr>
          <a:xfrm rot="5400000">
            <a:off x="2195736" y="5373216"/>
            <a:ext cx="360040" cy="360040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カギ線コネクタ 102"/>
          <p:cNvCxnSpPr>
            <a:stCxn id="70" idx="4"/>
            <a:endCxn id="78" idx="0"/>
          </p:cNvCxnSpPr>
          <p:nvPr/>
        </p:nvCxnSpPr>
        <p:spPr>
          <a:xfrm rot="16200000" flipH="1">
            <a:off x="3599892" y="4617132"/>
            <a:ext cx="216024" cy="720080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カギ線コネクタ 104"/>
          <p:cNvCxnSpPr>
            <a:stCxn id="70" idx="4"/>
            <a:endCxn id="77" idx="0"/>
          </p:cNvCxnSpPr>
          <p:nvPr/>
        </p:nvCxnSpPr>
        <p:spPr>
          <a:xfrm rot="16200000" flipH="1">
            <a:off x="3347864" y="4869160"/>
            <a:ext cx="216024" cy="216024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カギ線コネクタ 107"/>
          <p:cNvCxnSpPr>
            <a:stCxn id="70" idx="4"/>
            <a:endCxn id="76" idx="0"/>
          </p:cNvCxnSpPr>
          <p:nvPr/>
        </p:nvCxnSpPr>
        <p:spPr>
          <a:xfrm rot="5400000">
            <a:off x="3095836" y="4833156"/>
            <a:ext cx="216024" cy="288032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カギ線コネクタ 110"/>
          <p:cNvCxnSpPr>
            <a:stCxn id="70" idx="4"/>
            <a:endCxn id="75" idx="0"/>
          </p:cNvCxnSpPr>
          <p:nvPr/>
        </p:nvCxnSpPr>
        <p:spPr>
          <a:xfrm rot="5400000">
            <a:off x="2843808" y="4581128"/>
            <a:ext cx="216024" cy="792088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カギ線コネクタ 112"/>
          <p:cNvCxnSpPr>
            <a:stCxn id="58" idx="4"/>
            <a:endCxn id="70" idx="0"/>
          </p:cNvCxnSpPr>
          <p:nvPr/>
        </p:nvCxnSpPr>
        <p:spPr>
          <a:xfrm rot="5400000">
            <a:off x="3275856" y="4293096"/>
            <a:ext cx="360040" cy="216024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テキスト ボックス 113"/>
          <p:cNvSpPr txBox="1"/>
          <p:nvPr/>
        </p:nvSpPr>
        <p:spPr>
          <a:xfrm>
            <a:off x="5364088" y="5229200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大量のフォロワーが現れる</a:t>
            </a:r>
          </a:p>
        </p:txBody>
      </p:sp>
      <p:sp>
        <p:nvSpPr>
          <p:cNvPr id="115" name="右中かっこ 114"/>
          <p:cNvSpPr/>
          <p:nvPr/>
        </p:nvSpPr>
        <p:spPr>
          <a:xfrm>
            <a:off x="5004048" y="5085184"/>
            <a:ext cx="299464" cy="914400"/>
          </a:xfrm>
          <a:prstGeom prst="rightBrac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6" name="テキスト ボックス 115"/>
          <p:cNvSpPr txBox="1"/>
          <p:nvPr/>
        </p:nvSpPr>
        <p:spPr>
          <a:xfrm>
            <a:off x="2627784" y="6272644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読めと言われた論文</a:t>
            </a:r>
            <a:endParaRPr kumimoji="1" lang="ja-JP" altLang="en-US" dirty="0"/>
          </a:p>
        </p:txBody>
      </p:sp>
      <p:cxnSp>
        <p:nvCxnSpPr>
          <p:cNvPr id="118" name="直線矢印コネクタ 117"/>
          <p:cNvCxnSpPr/>
          <p:nvPr/>
        </p:nvCxnSpPr>
        <p:spPr>
          <a:xfrm flipV="1">
            <a:off x="3707904" y="6021290"/>
            <a:ext cx="0" cy="28803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3081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研究の流れ</a:t>
            </a:r>
          </a:p>
        </p:txBody>
      </p:sp>
      <p:sp>
        <p:nvSpPr>
          <p:cNvPr id="3" name="楕円 2"/>
          <p:cNvSpPr/>
          <p:nvPr/>
        </p:nvSpPr>
        <p:spPr>
          <a:xfrm>
            <a:off x="4211960" y="2348880"/>
            <a:ext cx="288032" cy="288032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4572000" y="2276872"/>
            <a:ext cx="24929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dirty="0"/>
              <a:t>問題提起となる研究</a:t>
            </a:r>
            <a:endParaRPr kumimoji="1" lang="ja-JP" altLang="en-US" sz="2000" dirty="0"/>
          </a:p>
        </p:txBody>
      </p:sp>
      <p:sp>
        <p:nvSpPr>
          <p:cNvPr id="5" name="楕円 4"/>
          <p:cNvSpPr/>
          <p:nvPr/>
        </p:nvSpPr>
        <p:spPr>
          <a:xfrm>
            <a:off x="3131840" y="4293096"/>
            <a:ext cx="288032" cy="288032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楕円 5"/>
          <p:cNvSpPr/>
          <p:nvPr/>
        </p:nvSpPr>
        <p:spPr>
          <a:xfrm>
            <a:off x="3851920" y="4293096"/>
            <a:ext cx="288032" cy="288032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楕円 6"/>
          <p:cNvSpPr/>
          <p:nvPr/>
        </p:nvSpPr>
        <p:spPr>
          <a:xfrm>
            <a:off x="4572000" y="4293096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7"/>
          <p:cNvSpPr/>
          <p:nvPr/>
        </p:nvSpPr>
        <p:spPr>
          <a:xfrm>
            <a:off x="5292080" y="4293096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楕円 8"/>
          <p:cNvSpPr/>
          <p:nvPr/>
        </p:nvSpPr>
        <p:spPr>
          <a:xfrm>
            <a:off x="2771800" y="5013176"/>
            <a:ext cx="288032" cy="288032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楕円 9"/>
          <p:cNvSpPr/>
          <p:nvPr/>
        </p:nvSpPr>
        <p:spPr>
          <a:xfrm>
            <a:off x="3491880" y="5013176"/>
            <a:ext cx="288032" cy="288032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楕円 10"/>
          <p:cNvSpPr/>
          <p:nvPr/>
        </p:nvSpPr>
        <p:spPr>
          <a:xfrm>
            <a:off x="2051720" y="5013176"/>
            <a:ext cx="288032" cy="288032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楕円 11"/>
          <p:cNvSpPr/>
          <p:nvPr/>
        </p:nvSpPr>
        <p:spPr>
          <a:xfrm>
            <a:off x="5652120" y="5013176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楕円 12"/>
          <p:cNvSpPr/>
          <p:nvPr/>
        </p:nvSpPr>
        <p:spPr>
          <a:xfrm>
            <a:off x="6372200" y="5013176"/>
            <a:ext cx="288032" cy="288032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楕円 13"/>
          <p:cNvSpPr/>
          <p:nvPr/>
        </p:nvSpPr>
        <p:spPr>
          <a:xfrm>
            <a:off x="4932040" y="5013176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6" name="カギ線コネクタ 15"/>
          <p:cNvCxnSpPr>
            <a:stCxn id="3" idx="4"/>
            <a:endCxn id="6" idx="0"/>
          </p:cNvCxnSpPr>
          <p:nvPr/>
        </p:nvCxnSpPr>
        <p:spPr>
          <a:xfrm rot="5400000">
            <a:off x="3347864" y="3284984"/>
            <a:ext cx="1656184" cy="36004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カギ線コネクタ 17"/>
          <p:cNvCxnSpPr>
            <a:stCxn id="3" idx="4"/>
            <a:endCxn id="5" idx="0"/>
          </p:cNvCxnSpPr>
          <p:nvPr/>
        </p:nvCxnSpPr>
        <p:spPr>
          <a:xfrm rot="5400000">
            <a:off x="2987824" y="2924944"/>
            <a:ext cx="1656184" cy="108012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カギ線コネクタ 19"/>
          <p:cNvCxnSpPr>
            <a:stCxn id="3" idx="4"/>
            <a:endCxn id="7" idx="0"/>
          </p:cNvCxnSpPr>
          <p:nvPr/>
        </p:nvCxnSpPr>
        <p:spPr>
          <a:xfrm rot="16200000" flipH="1">
            <a:off x="3707904" y="3284984"/>
            <a:ext cx="1656184" cy="36004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カギ線コネクタ 21"/>
          <p:cNvCxnSpPr>
            <a:stCxn id="3" idx="4"/>
            <a:endCxn id="8" idx="0"/>
          </p:cNvCxnSpPr>
          <p:nvPr/>
        </p:nvCxnSpPr>
        <p:spPr>
          <a:xfrm rot="16200000" flipH="1">
            <a:off x="4067944" y="2924944"/>
            <a:ext cx="1656184" cy="108012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カギ線コネクタ 23"/>
          <p:cNvCxnSpPr>
            <a:stCxn id="5" idx="4"/>
            <a:endCxn id="11" idx="0"/>
          </p:cNvCxnSpPr>
          <p:nvPr/>
        </p:nvCxnSpPr>
        <p:spPr>
          <a:xfrm rot="5400000">
            <a:off x="2519772" y="4257092"/>
            <a:ext cx="432048" cy="1080120"/>
          </a:xfrm>
          <a:prstGeom prst="bentConnector3">
            <a:avLst>
              <a:gd name="adj1" fmla="val 31596"/>
            </a:avLst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カギ線コネクタ 25"/>
          <p:cNvCxnSpPr>
            <a:stCxn id="6" idx="4"/>
            <a:endCxn id="9" idx="0"/>
          </p:cNvCxnSpPr>
          <p:nvPr/>
        </p:nvCxnSpPr>
        <p:spPr>
          <a:xfrm rot="5400000">
            <a:off x="3239852" y="4257092"/>
            <a:ext cx="432048" cy="1080120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カギ線コネクタ 28"/>
          <p:cNvCxnSpPr>
            <a:stCxn id="6" idx="4"/>
            <a:endCxn id="10" idx="0"/>
          </p:cNvCxnSpPr>
          <p:nvPr/>
        </p:nvCxnSpPr>
        <p:spPr>
          <a:xfrm rot="5400000">
            <a:off x="3599892" y="4617132"/>
            <a:ext cx="432048" cy="360040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カギ線コネクタ 30"/>
          <p:cNvCxnSpPr>
            <a:stCxn id="7" idx="4"/>
            <a:endCxn id="14" idx="0"/>
          </p:cNvCxnSpPr>
          <p:nvPr/>
        </p:nvCxnSpPr>
        <p:spPr>
          <a:xfrm rot="16200000" flipH="1">
            <a:off x="4680012" y="4617132"/>
            <a:ext cx="432048" cy="360040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カギ線コネクタ 33"/>
          <p:cNvCxnSpPr>
            <a:stCxn id="8" idx="4"/>
            <a:endCxn id="12" idx="0"/>
          </p:cNvCxnSpPr>
          <p:nvPr/>
        </p:nvCxnSpPr>
        <p:spPr>
          <a:xfrm rot="16200000" flipH="1">
            <a:off x="5400092" y="4617132"/>
            <a:ext cx="432048" cy="360040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カギ線コネクタ 35"/>
          <p:cNvCxnSpPr>
            <a:stCxn id="8" idx="4"/>
            <a:endCxn id="13" idx="0"/>
          </p:cNvCxnSpPr>
          <p:nvPr/>
        </p:nvCxnSpPr>
        <p:spPr>
          <a:xfrm rot="16200000" flipH="1">
            <a:off x="5760132" y="4257092"/>
            <a:ext cx="432048" cy="1080120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角丸四角形 46"/>
          <p:cNvSpPr/>
          <p:nvPr/>
        </p:nvSpPr>
        <p:spPr>
          <a:xfrm>
            <a:off x="1403648" y="4149080"/>
            <a:ext cx="2880320" cy="144016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テキスト ボックス 53"/>
          <p:cNvSpPr txBox="1"/>
          <p:nvPr/>
        </p:nvSpPr>
        <p:spPr>
          <a:xfrm>
            <a:off x="3203848" y="2780928"/>
            <a:ext cx="2339102" cy="461665"/>
          </a:xfrm>
          <a:prstGeom prst="rect">
            <a:avLst/>
          </a:prstGeom>
          <a:solidFill>
            <a:srgbClr val="F2F2F2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この問題を</a:t>
            </a:r>
            <a:r>
              <a:rPr lang="en-US" altLang="ja-JP" sz="2400" dirty="0"/>
              <a:t>……</a:t>
            </a:r>
            <a:endParaRPr kumimoji="1" lang="ja-JP" altLang="en-US" sz="2400" dirty="0"/>
          </a:p>
        </p:txBody>
      </p:sp>
      <p:sp>
        <p:nvSpPr>
          <p:cNvPr id="60" name="テキスト ボックス 59"/>
          <p:cNvSpPr txBox="1"/>
          <p:nvPr/>
        </p:nvSpPr>
        <p:spPr>
          <a:xfrm>
            <a:off x="899592" y="3284984"/>
            <a:ext cx="22365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A</a:t>
            </a:r>
            <a:r>
              <a:rPr kumimoji="1" lang="ja-JP" altLang="en-US" sz="2400" dirty="0"/>
              <a:t>という方法で</a:t>
            </a:r>
            <a:endParaRPr kumimoji="1" lang="en-US" altLang="ja-JP" sz="2400" dirty="0"/>
          </a:p>
          <a:p>
            <a:r>
              <a:rPr kumimoji="1" lang="ja-JP" altLang="en-US" sz="2400" dirty="0"/>
              <a:t>解決を試みる</a:t>
            </a:r>
          </a:p>
        </p:txBody>
      </p:sp>
      <p:sp>
        <p:nvSpPr>
          <p:cNvPr id="61" name="角丸四角形 60"/>
          <p:cNvSpPr/>
          <p:nvPr/>
        </p:nvSpPr>
        <p:spPr>
          <a:xfrm>
            <a:off x="4499992" y="4149080"/>
            <a:ext cx="2664296" cy="144016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6" name="テキスト ボックス 65"/>
          <p:cNvSpPr txBox="1"/>
          <p:nvPr/>
        </p:nvSpPr>
        <p:spPr>
          <a:xfrm>
            <a:off x="5724128" y="3284984"/>
            <a:ext cx="22044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B</a:t>
            </a:r>
            <a:r>
              <a:rPr kumimoji="1" lang="ja-JP" altLang="en-US" sz="2400" dirty="0"/>
              <a:t>という方法で</a:t>
            </a:r>
            <a:endParaRPr kumimoji="1" lang="en-US" altLang="ja-JP" sz="2400" dirty="0"/>
          </a:p>
          <a:p>
            <a:r>
              <a:rPr kumimoji="1" lang="ja-JP" altLang="en-US" sz="2400" dirty="0"/>
              <a:t>解決を試みる</a:t>
            </a:r>
          </a:p>
        </p:txBody>
      </p:sp>
      <p:sp>
        <p:nvSpPr>
          <p:cNvPr id="87" name="テキスト ボックス 86"/>
          <p:cNvSpPr txBox="1"/>
          <p:nvPr/>
        </p:nvSpPr>
        <p:spPr>
          <a:xfrm>
            <a:off x="5364088" y="5805264"/>
            <a:ext cx="24929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dirty="0"/>
              <a:t>読めと言われた論文</a:t>
            </a:r>
            <a:endParaRPr kumimoji="1" lang="ja-JP" altLang="en-US" sz="2000" dirty="0"/>
          </a:p>
        </p:txBody>
      </p:sp>
      <p:cxnSp>
        <p:nvCxnSpPr>
          <p:cNvPr id="88" name="直線矢印コネクタ 87"/>
          <p:cNvCxnSpPr/>
          <p:nvPr/>
        </p:nvCxnSpPr>
        <p:spPr>
          <a:xfrm flipV="1">
            <a:off x="6516216" y="5409894"/>
            <a:ext cx="0" cy="28803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テキスト ボックス 31"/>
          <p:cNvSpPr txBox="1"/>
          <p:nvPr/>
        </p:nvSpPr>
        <p:spPr>
          <a:xfrm>
            <a:off x="899592" y="1196752"/>
            <a:ext cx="78790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000" dirty="0"/>
              <a:t>研究には様々なアプローチがある</a:t>
            </a:r>
            <a:endParaRPr kumimoji="1" lang="ja-JP" altLang="en-US" sz="4000" dirty="0"/>
          </a:p>
        </p:txBody>
      </p:sp>
    </p:spTree>
    <p:extLst>
      <p:ext uri="{BB962C8B-B14F-4D97-AF65-F5344CB8AC3E}">
        <p14:creationId xmlns:p14="http://schemas.microsoft.com/office/powerpoint/2010/main" val="36854994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研究の流れ</a:t>
            </a:r>
          </a:p>
        </p:txBody>
      </p:sp>
      <p:sp>
        <p:nvSpPr>
          <p:cNvPr id="3" name="楕円 2"/>
          <p:cNvSpPr/>
          <p:nvPr/>
        </p:nvSpPr>
        <p:spPr>
          <a:xfrm>
            <a:off x="1331640" y="1268760"/>
            <a:ext cx="720080" cy="72008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楕円 3"/>
          <p:cNvSpPr/>
          <p:nvPr/>
        </p:nvSpPr>
        <p:spPr>
          <a:xfrm>
            <a:off x="1331640" y="3429000"/>
            <a:ext cx="720080" cy="720080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339752" y="1340768"/>
            <a:ext cx="59298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何か「はじまり」となる研究があり</a:t>
            </a:r>
          </a:p>
        </p:txBody>
      </p:sp>
      <p:cxnSp>
        <p:nvCxnSpPr>
          <p:cNvPr id="8" name="直線コネクタ 7"/>
          <p:cNvCxnSpPr>
            <a:stCxn id="3" idx="4"/>
            <a:endCxn id="4" idx="0"/>
          </p:cNvCxnSpPr>
          <p:nvPr/>
        </p:nvCxnSpPr>
        <p:spPr>
          <a:xfrm>
            <a:off x="1691680" y="1988840"/>
            <a:ext cx="0" cy="1440160"/>
          </a:xfrm>
          <a:prstGeom prst="line">
            <a:avLst/>
          </a:prstGeom>
          <a:ln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楕円 11"/>
          <p:cNvSpPr/>
          <p:nvPr/>
        </p:nvSpPr>
        <p:spPr>
          <a:xfrm>
            <a:off x="1043608" y="2564904"/>
            <a:ext cx="288032" cy="288032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2339752" y="2420888"/>
            <a:ext cx="52116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/>
              <a:t>様々なアプローチがなされるが</a:t>
            </a:r>
            <a:endParaRPr kumimoji="1" lang="ja-JP" altLang="en-US" sz="2800" dirty="0"/>
          </a:p>
        </p:txBody>
      </p:sp>
      <p:cxnSp>
        <p:nvCxnSpPr>
          <p:cNvPr id="16" name="カギ線コネクタ 15"/>
          <p:cNvCxnSpPr>
            <a:stCxn id="3" idx="4"/>
            <a:endCxn id="12" idx="0"/>
          </p:cNvCxnSpPr>
          <p:nvPr/>
        </p:nvCxnSpPr>
        <p:spPr>
          <a:xfrm rot="5400000">
            <a:off x="1151620" y="2024844"/>
            <a:ext cx="576064" cy="504056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楕円 16"/>
          <p:cNvSpPr/>
          <p:nvPr/>
        </p:nvSpPr>
        <p:spPr>
          <a:xfrm>
            <a:off x="755576" y="3140968"/>
            <a:ext cx="288032" cy="288032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楕円 17"/>
          <p:cNvSpPr/>
          <p:nvPr/>
        </p:nvSpPr>
        <p:spPr>
          <a:xfrm>
            <a:off x="35496" y="3140968"/>
            <a:ext cx="288032" cy="288032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0" name="カギ線コネクタ 19"/>
          <p:cNvCxnSpPr>
            <a:stCxn id="12" idx="4"/>
            <a:endCxn id="17" idx="0"/>
          </p:cNvCxnSpPr>
          <p:nvPr/>
        </p:nvCxnSpPr>
        <p:spPr>
          <a:xfrm rot="5400000">
            <a:off x="899592" y="2852936"/>
            <a:ext cx="288032" cy="288032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カギ線コネクタ 22"/>
          <p:cNvCxnSpPr>
            <a:stCxn id="12" idx="4"/>
            <a:endCxn id="18" idx="0"/>
          </p:cNvCxnSpPr>
          <p:nvPr/>
        </p:nvCxnSpPr>
        <p:spPr>
          <a:xfrm rot="5400000">
            <a:off x="539552" y="2492896"/>
            <a:ext cx="288032" cy="1008112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/>
          <p:cNvSpPr txBox="1"/>
          <p:nvPr/>
        </p:nvSpPr>
        <p:spPr>
          <a:xfrm>
            <a:off x="2411760" y="3501008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ja-JP" altLang="en-US" sz="2800" dirty="0"/>
          </a:p>
        </p:txBody>
      </p:sp>
      <p:sp>
        <p:nvSpPr>
          <p:cNvPr id="25" name="テキスト ボックス 24"/>
          <p:cNvSpPr txBox="1"/>
          <p:nvPr/>
        </p:nvSpPr>
        <p:spPr>
          <a:xfrm>
            <a:off x="2339752" y="3553852"/>
            <a:ext cx="57727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その中で</a:t>
            </a:r>
            <a:r>
              <a:rPr kumimoji="1" lang="en-US" altLang="ja-JP" sz="2800" dirty="0"/>
              <a:t>B</a:t>
            </a:r>
            <a:r>
              <a:rPr kumimoji="1" lang="ja-JP" altLang="en-US" sz="2800" dirty="0"/>
              <a:t>というアプローチがあり</a:t>
            </a:r>
          </a:p>
        </p:txBody>
      </p:sp>
      <p:sp>
        <p:nvSpPr>
          <p:cNvPr id="26" name="楕円 25"/>
          <p:cNvSpPr/>
          <p:nvPr/>
        </p:nvSpPr>
        <p:spPr>
          <a:xfrm>
            <a:off x="1331640" y="4869160"/>
            <a:ext cx="720080" cy="720080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8" name="直線コネクタ 27"/>
          <p:cNvCxnSpPr>
            <a:stCxn id="4" idx="4"/>
            <a:endCxn id="26" idx="0"/>
          </p:cNvCxnSpPr>
          <p:nvPr/>
        </p:nvCxnSpPr>
        <p:spPr>
          <a:xfrm>
            <a:off x="1691680" y="4149080"/>
            <a:ext cx="0" cy="72008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テキスト ボックス 28"/>
          <p:cNvSpPr txBox="1"/>
          <p:nvPr/>
        </p:nvSpPr>
        <p:spPr>
          <a:xfrm>
            <a:off x="2339752" y="4941168"/>
            <a:ext cx="64123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/>
              <a:t>アプローチ</a:t>
            </a:r>
            <a:r>
              <a:rPr lang="en-US" altLang="ja-JP" sz="2800" dirty="0"/>
              <a:t>B</a:t>
            </a:r>
            <a:r>
              <a:rPr lang="ja-JP" altLang="en-US" sz="2800" dirty="0"/>
              <a:t>の中で</a:t>
            </a:r>
            <a:r>
              <a:rPr lang="en-US" altLang="ja-JP" sz="2800" dirty="0"/>
              <a:t>B’</a:t>
            </a:r>
            <a:r>
              <a:rPr lang="ja-JP" altLang="en-US" sz="2800" dirty="0"/>
              <a:t>という提案をした</a:t>
            </a:r>
            <a:endParaRPr kumimoji="1" lang="ja-JP" altLang="en-US" sz="2800" dirty="0"/>
          </a:p>
        </p:txBody>
      </p:sp>
      <p:sp>
        <p:nvSpPr>
          <p:cNvPr id="30" name="テキスト ボックス 29"/>
          <p:cNvSpPr txBox="1"/>
          <p:nvPr/>
        </p:nvSpPr>
        <p:spPr>
          <a:xfrm>
            <a:off x="539552" y="6021288"/>
            <a:ext cx="24929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dirty="0"/>
              <a:t>読めと言われた論文</a:t>
            </a:r>
            <a:endParaRPr kumimoji="1" lang="ja-JP" altLang="en-US" sz="2000" dirty="0"/>
          </a:p>
        </p:txBody>
      </p:sp>
      <p:cxnSp>
        <p:nvCxnSpPr>
          <p:cNvPr id="31" name="直線矢印コネクタ 30"/>
          <p:cNvCxnSpPr/>
          <p:nvPr/>
        </p:nvCxnSpPr>
        <p:spPr>
          <a:xfrm flipV="1">
            <a:off x="1691680" y="5625918"/>
            <a:ext cx="0" cy="28803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1681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角丸四角形 30"/>
          <p:cNvSpPr/>
          <p:nvPr/>
        </p:nvSpPr>
        <p:spPr>
          <a:xfrm>
            <a:off x="4067944" y="1484784"/>
            <a:ext cx="4896544" cy="151216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テキスト プレースホルダー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研究の流れ</a:t>
            </a:r>
          </a:p>
        </p:txBody>
      </p:sp>
      <p:sp>
        <p:nvSpPr>
          <p:cNvPr id="3" name="楕円 2"/>
          <p:cNvSpPr/>
          <p:nvPr/>
        </p:nvSpPr>
        <p:spPr>
          <a:xfrm>
            <a:off x="2771800" y="1268760"/>
            <a:ext cx="720080" cy="72008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楕円 3"/>
          <p:cNvSpPr/>
          <p:nvPr/>
        </p:nvSpPr>
        <p:spPr>
          <a:xfrm>
            <a:off x="2771800" y="3429000"/>
            <a:ext cx="720080" cy="720080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" name="直線コネクタ 4"/>
          <p:cNvCxnSpPr>
            <a:stCxn id="3" idx="4"/>
            <a:endCxn id="4" idx="0"/>
          </p:cNvCxnSpPr>
          <p:nvPr/>
        </p:nvCxnSpPr>
        <p:spPr>
          <a:xfrm>
            <a:off x="3131840" y="1988840"/>
            <a:ext cx="0" cy="1440160"/>
          </a:xfrm>
          <a:prstGeom prst="line">
            <a:avLst/>
          </a:prstGeom>
          <a:ln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楕円 5"/>
          <p:cNvSpPr/>
          <p:nvPr/>
        </p:nvSpPr>
        <p:spPr>
          <a:xfrm>
            <a:off x="2483768" y="2564904"/>
            <a:ext cx="288032" cy="288032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" name="カギ線コネクタ 6"/>
          <p:cNvCxnSpPr>
            <a:stCxn id="3" idx="4"/>
            <a:endCxn id="6" idx="0"/>
          </p:cNvCxnSpPr>
          <p:nvPr/>
        </p:nvCxnSpPr>
        <p:spPr>
          <a:xfrm rot="5400000">
            <a:off x="2591780" y="2024844"/>
            <a:ext cx="576064" cy="504056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楕円 7"/>
          <p:cNvSpPr/>
          <p:nvPr/>
        </p:nvSpPr>
        <p:spPr>
          <a:xfrm>
            <a:off x="2195736" y="3140968"/>
            <a:ext cx="288032" cy="288032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楕円 8"/>
          <p:cNvSpPr/>
          <p:nvPr/>
        </p:nvSpPr>
        <p:spPr>
          <a:xfrm>
            <a:off x="1475656" y="3140968"/>
            <a:ext cx="288032" cy="288032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" name="カギ線コネクタ 9"/>
          <p:cNvCxnSpPr>
            <a:stCxn id="6" idx="4"/>
            <a:endCxn id="8" idx="0"/>
          </p:cNvCxnSpPr>
          <p:nvPr/>
        </p:nvCxnSpPr>
        <p:spPr>
          <a:xfrm rot="5400000">
            <a:off x="2339752" y="2852936"/>
            <a:ext cx="288032" cy="288032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カギ線コネクタ 10"/>
          <p:cNvCxnSpPr>
            <a:stCxn id="6" idx="4"/>
            <a:endCxn id="9" idx="0"/>
          </p:cNvCxnSpPr>
          <p:nvPr/>
        </p:nvCxnSpPr>
        <p:spPr>
          <a:xfrm rot="5400000">
            <a:off x="1979712" y="2492896"/>
            <a:ext cx="288032" cy="1008112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/>
          <p:cNvSpPr txBox="1"/>
          <p:nvPr/>
        </p:nvSpPr>
        <p:spPr>
          <a:xfrm>
            <a:off x="3851920" y="3501008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ja-JP" altLang="en-US" sz="2800" dirty="0"/>
          </a:p>
        </p:txBody>
      </p:sp>
      <p:sp>
        <p:nvSpPr>
          <p:cNvPr id="13" name="楕円 12"/>
          <p:cNvSpPr/>
          <p:nvPr/>
        </p:nvSpPr>
        <p:spPr>
          <a:xfrm>
            <a:off x="2771800" y="4869160"/>
            <a:ext cx="720080" cy="720080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4" name="直線コネクタ 13"/>
          <p:cNvCxnSpPr>
            <a:stCxn id="4" idx="4"/>
            <a:endCxn id="13" idx="0"/>
          </p:cNvCxnSpPr>
          <p:nvPr/>
        </p:nvCxnSpPr>
        <p:spPr>
          <a:xfrm>
            <a:off x="3131840" y="4149080"/>
            <a:ext cx="0" cy="72008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/>
          <p:cNvSpPr txBox="1"/>
          <p:nvPr/>
        </p:nvSpPr>
        <p:spPr>
          <a:xfrm>
            <a:off x="3563888" y="5013176"/>
            <a:ext cx="24929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dirty="0"/>
              <a:t>読めと言われた論文</a:t>
            </a:r>
            <a:endParaRPr kumimoji="1" lang="ja-JP" altLang="en-US" sz="2000" dirty="0"/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1981453" y="147549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起点</a:t>
            </a:r>
            <a:endParaRPr kumimoji="1" lang="ja-JP" altLang="en-US" dirty="0"/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323528" y="2492896"/>
            <a:ext cx="19800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/>
              <a:t>他のアプローチ</a:t>
            </a:r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4499992" y="3645024"/>
            <a:ext cx="31726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dirty="0"/>
              <a:t>直接の親</a:t>
            </a:r>
            <a:r>
              <a:rPr lang="en-US" altLang="ja-JP" sz="2000" dirty="0"/>
              <a:t>(</a:t>
            </a:r>
            <a:r>
              <a:rPr lang="ja-JP" altLang="en-US" sz="2000" dirty="0"/>
              <a:t>一般的には複数</a:t>
            </a:r>
            <a:r>
              <a:rPr lang="en-US" altLang="ja-JP" sz="2000" dirty="0"/>
              <a:t>)</a:t>
            </a:r>
            <a:endParaRPr kumimoji="1" lang="ja-JP" altLang="en-US" sz="2000" dirty="0"/>
          </a:p>
        </p:txBody>
      </p:sp>
      <p:sp>
        <p:nvSpPr>
          <p:cNvPr id="23" name="テキスト ボックス 22"/>
          <p:cNvSpPr txBox="1"/>
          <p:nvPr/>
        </p:nvSpPr>
        <p:spPr>
          <a:xfrm>
            <a:off x="5220072" y="1268760"/>
            <a:ext cx="2592288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 dirty="0"/>
              <a:t>把握すべきこと</a:t>
            </a:r>
          </a:p>
        </p:txBody>
      </p:sp>
      <p:sp>
        <p:nvSpPr>
          <p:cNvPr id="24" name="テキスト ボックス 23"/>
          <p:cNvSpPr txBox="1"/>
          <p:nvPr/>
        </p:nvSpPr>
        <p:spPr>
          <a:xfrm>
            <a:off x="4067944" y="1844824"/>
            <a:ext cx="489108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ja-JP" altLang="en-US" sz="2000" dirty="0">
                <a:solidFill>
                  <a:srgbClr val="FF0000"/>
                </a:solidFill>
              </a:rPr>
              <a:t>起点となる研究</a:t>
            </a:r>
            <a:r>
              <a:rPr kumimoji="1" lang="en-US" altLang="ja-JP" sz="2000" dirty="0">
                <a:solidFill>
                  <a:srgbClr val="FF0000"/>
                </a:solidFill>
              </a:rPr>
              <a:t>(</a:t>
            </a:r>
            <a:r>
              <a:rPr kumimoji="1" lang="ja-JP" altLang="en-US" sz="2000" dirty="0">
                <a:solidFill>
                  <a:srgbClr val="FF0000"/>
                </a:solidFill>
              </a:rPr>
              <a:t>祖先</a:t>
            </a:r>
            <a:r>
              <a:rPr kumimoji="1" lang="en-US" altLang="ja-JP" sz="2000" dirty="0">
                <a:solidFill>
                  <a:srgbClr val="FF0000"/>
                </a:solidFill>
              </a:rPr>
              <a:t>)</a:t>
            </a:r>
            <a:r>
              <a:rPr kumimoji="1" lang="ja-JP" altLang="en-US" sz="2000" dirty="0">
                <a:solidFill>
                  <a:srgbClr val="FF0000"/>
                </a:solidFill>
              </a:rPr>
              <a:t>はどれか</a:t>
            </a:r>
            <a:endParaRPr kumimoji="1" lang="en-US" altLang="ja-JP" sz="2000" dirty="0">
              <a:solidFill>
                <a:srgbClr val="FF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ja-JP" altLang="en-US" sz="2000" dirty="0">
                <a:solidFill>
                  <a:srgbClr val="00B050"/>
                </a:solidFill>
              </a:rPr>
              <a:t>他にはどのようなアプローチが</a:t>
            </a:r>
            <a:r>
              <a:rPr lang="ja-JP" altLang="en-US" sz="2000" dirty="0">
                <a:solidFill>
                  <a:srgbClr val="00B050"/>
                </a:solidFill>
              </a:rPr>
              <a:t>あ</a:t>
            </a:r>
            <a:r>
              <a:rPr kumimoji="1" lang="ja-JP" altLang="en-US" sz="2000" dirty="0">
                <a:solidFill>
                  <a:srgbClr val="00B050"/>
                </a:solidFill>
              </a:rPr>
              <a:t>るか</a:t>
            </a:r>
            <a:endParaRPr kumimoji="1" lang="en-US" altLang="ja-JP" sz="2000" dirty="0">
              <a:solidFill>
                <a:srgbClr val="00B05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ja-JP" altLang="en-US" sz="2000" dirty="0">
                <a:solidFill>
                  <a:srgbClr val="011893"/>
                </a:solidFill>
              </a:rPr>
              <a:t>直接の「親」となる論文はどれか</a:t>
            </a:r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1403648" y="5949280"/>
            <a:ext cx="66479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最終的に↑こんなイメージを</a:t>
            </a:r>
            <a:r>
              <a:rPr lang="ja-JP" altLang="en-US" sz="2800" dirty="0"/>
              <a:t>つかみたい</a:t>
            </a:r>
            <a:endParaRPr kumimoji="1" lang="ja-JP" altLang="en-US" sz="2800" dirty="0"/>
          </a:p>
        </p:txBody>
      </p:sp>
      <p:sp>
        <p:nvSpPr>
          <p:cNvPr id="25" name="楕円 24"/>
          <p:cNvSpPr/>
          <p:nvPr/>
        </p:nvSpPr>
        <p:spPr>
          <a:xfrm>
            <a:off x="3707904" y="3429000"/>
            <a:ext cx="720080" cy="720080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7" name="カギ線コネクタ 26"/>
          <p:cNvCxnSpPr>
            <a:stCxn id="3" idx="4"/>
            <a:endCxn id="25" idx="0"/>
          </p:cNvCxnSpPr>
          <p:nvPr/>
        </p:nvCxnSpPr>
        <p:spPr>
          <a:xfrm rot="16200000" flipH="1">
            <a:off x="2879812" y="2240868"/>
            <a:ext cx="1440160" cy="936104"/>
          </a:xfrm>
          <a:prstGeom prst="bentConnector3">
            <a:avLst>
              <a:gd name="adj1" fmla="val 80143"/>
            </a:avLst>
          </a:prstGeom>
          <a:ln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カギ線コネクタ 28"/>
          <p:cNvCxnSpPr>
            <a:stCxn id="25" idx="4"/>
            <a:endCxn id="13" idx="0"/>
          </p:cNvCxnSpPr>
          <p:nvPr/>
        </p:nvCxnSpPr>
        <p:spPr>
          <a:xfrm rot="5400000">
            <a:off x="3239852" y="4041068"/>
            <a:ext cx="720080" cy="936104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54354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論文の構造</a:t>
            </a:r>
          </a:p>
        </p:txBody>
      </p:sp>
      <p:sp>
        <p:nvSpPr>
          <p:cNvPr id="3" name="正方形/長方形 2"/>
          <p:cNvSpPr/>
          <p:nvPr/>
        </p:nvSpPr>
        <p:spPr>
          <a:xfrm>
            <a:off x="251520" y="1268760"/>
            <a:ext cx="2160240" cy="7200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/>
          <p:cNvSpPr/>
          <p:nvPr/>
        </p:nvSpPr>
        <p:spPr>
          <a:xfrm>
            <a:off x="251520" y="1988840"/>
            <a:ext cx="2160240" cy="720080"/>
          </a:xfrm>
          <a:prstGeom prst="rect">
            <a:avLst/>
          </a:prstGeom>
          <a:solidFill>
            <a:srgbClr val="CC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/>
          <p:cNvSpPr/>
          <p:nvPr/>
        </p:nvSpPr>
        <p:spPr>
          <a:xfrm>
            <a:off x="251520" y="2708920"/>
            <a:ext cx="2160240" cy="21602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683568" y="1412776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タイトル</a:t>
            </a: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323528" y="2132856"/>
            <a:ext cx="20810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概要 </a:t>
            </a:r>
            <a:r>
              <a:rPr lang="en-US" altLang="ja-JP" sz="2400" dirty="0"/>
              <a:t>(abstract)</a:t>
            </a:r>
            <a:endParaRPr kumimoji="1" lang="ja-JP" altLang="en-US" sz="2400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827584" y="3429000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600" dirty="0"/>
              <a:t>本文</a:t>
            </a:r>
          </a:p>
        </p:txBody>
      </p:sp>
      <p:sp>
        <p:nvSpPr>
          <p:cNvPr id="11" name="正方形/長方形 10"/>
          <p:cNvSpPr/>
          <p:nvPr/>
        </p:nvSpPr>
        <p:spPr>
          <a:xfrm>
            <a:off x="3851920" y="1988840"/>
            <a:ext cx="2160240" cy="720080"/>
          </a:xfrm>
          <a:prstGeom prst="rect">
            <a:avLst/>
          </a:prstGeom>
          <a:solidFill>
            <a:srgbClr val="CCE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4563869" y="2132856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手法</a:t>
            </a:r>
          </a:p>
        </p:txBody>
      </p:sp>
      <p:sp>
        <p:nvSpPr>
          <p:cNvPr id="14" name="正方形/長方形 13"/>
          <p:cNvSpPr/>
          <p:nvPr/>
        </p:nvSpPr>
        <p:spPr>
          <a:xfrm>
            <a:off x="3851920" y="2708920"/>
            <a:ext cx="2160240" cy="1440160"/>
          </a:xfrm>
          <a:prstGeom prst="rect">
            <a:avLst/>
          </a:prstGeom>
          <a:solidFill>
            <a:srgbClr val="FFC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4572000" y="3183359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結果</a:t>
            </a:r>
            <a:endParaRPr kumimoji="1" lang="ja-JP" altLang="en-US" sz="2400" dirty="0"/>
          </a:p>
        </p:txBody>
      </p:sp>
      <p:sp>
        <p:nvSpPr>
          <p:cNvPr id="16" name="正方形/長方形 15"/>
          <p:cNvSpPr/>
          <p:nvPr/>
        </p:nvSpPr>
        <p:spPr>
          <a:xfrm>
            <a:off x="3851920" y="4149080"/>
            <a:ext cx="2160240" cy="720080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4572000" y="4293096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考察</a:t>
            </a:r>
            <a:endParaRPr kumimoji="1" lang="ja-JP" altLang="en-US" sz="2400" dirty="0"/>
          </a:p>
        </p:txBody>
      </p:sp>
      <p:sp>
        <p:nvSpPr>
          <p:cNvPr id="18" name="正方形/長方形 17"/>
          <p:cNvSpPr/>
          <p:nvPr/>
        </p:nvSpPr>
        <p:spPr>
          <a:xfrm>
            <a:off x="3851920" y="4869160"/>
            <a:ext cx="2160240" cy="720080"/>
          </a:xfrm>
          <a:prstGeom prst="rect">
            <a:avLst/>
          </a:prstGeom>
          <a:solidFill>
            <a:srgbClr val="CC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4572000" y="5013176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結論</a:t>
            </a:r>
            <a:endParaRPr kumimoji="1" lang="ja-JP" altLang="en-US" sz="2400" dirty="0"/>
          </a:p>
        </p:txBody>
      </p:sp>
      <p:cxnSp>
        <p:nvCxnSpPr>
          <p:cNvPr id="21" name="直線コネクタ 20"/>
          <p:cNvCxnSpPr/>
          <p:nvPr/>
        </p:nvCxnSpPr>
        <p:spPr>
          <a:xfrm flipH="1">
            <a:off x="2411760" y="1268760"/>
            <a:ext cx="1440160" cy="144016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/>
          <p:cNvCxnSpPr/>
          <p:nvPr/>
        </p:nvCxnSpPr>
        <p:spPr>
          <a:xfrm flipH="1" flipV="1">
            <a:off x="2411760" y="4869160"/>
            <a:ext cx="1440160" cy="72008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正方形/長方形 25"/>
          <p:cNvSpPr/>
          <p:nvPr/>
        </p:nvSpPr>
        <p:spPr>
          <a:xfrm>
            <a:off x="251520" y="4869160"/>
            <a:ext cx="2160240" cy="720080"/>
          </a:xfrm>
          <a:prstGeom prst="rect">
            <a:avLst/>
          </a:prstGeom>
          <a:solidFill>
            <a:srgbClr val="CC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7" name="テキスト ボックス 26"/>
          <p:cNvSpPr txBox="1"/>
          <p:nvPr/>
        </p:nvSpPr>
        <p:spPr>
          <a:xfrm>
            <a:off x="611560" y="5013176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参考文献</a:t>
            </a:r>
            <a:endParaRPr kumimoji="1" lang="ja-JP" altLang="en-US" sz="2400" dirty="0"/>
          </a:p>
        </p:txBody>
      </p:sp>
      <p:sp>
        <p:nvSpPr>
          <p:cNvPr id="28" name="テキスト ボックス 27"/>
          <p:cNvSpPr txBox="1"/>
          <p:nvPr/>
        </p:nvSpPr>
        <p:spPr>
          <a:xfrm>
            <a:off x="1763688" y="6309320"/>
            <a:ext cx="5032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※</a:t>
            </a:r>
            <a:r>
              <a:rPr lang="ja-JP" altLang="en-US" dirty="0"/>
              <a:t>流儀</a:t>
            </a:r>
            <a:r>
              <a:rPr kumimoji="1" lang="ja-JP" altLang="en-US" dirty="0"/>
              <a:t>はいろいろあるので、あくまで一例です</a:t>
            </a:r>
          </a:p>
        </p:txBody>
      </p:sp>
      <p:pic>
        <p:nvPicPr>
          <p:cNvPr id="1026" name="Picture 2" descr="指をさしているマークのイラスト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169" y="1412777"/>
            <a:ext cx="886252" cy="72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テキスト ボックス 28"/>
          <p:cNvSpPr txBox="1"/>
          <p:nvPr/>
        </p:nvSpPr>
        <p:spPr>
          <a:xfrm>
            <a:off x="6948264" y="1556792"/>
            <a:ext cx="19800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>
                <a:solidFill>
                  <a:srgbClr val="FF0000"/>
                </a:solidFill>
              </a:rPr>
              <a:t>まずここを読む</a:t>
            </a:r>
          </a:p>
        </p:txBody>
      </p:sp>
      <p:sp>
        <p:nvSpPr>
          <p:cNvPr id="9" name="正方形/長方形 8"/>
          <p:cNvSpPr/>
          <p:nvPr/>
        </p:nvSpPr>
        <p:spPr>
          <a:xfrm>
            <a:off x="3851920" y="1268760"/>
            <a:ext cx="2160240" cy="7200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3851920" y="1484784"/>
            <a:ext cx="21515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dirty="0"/>
              <a:t>導入</a:t>
            </a:r>
            <a:r>
              <a:rPr lang="en-US" altLang="ja-JP" sz="2000" dirty="0"/>
              <a:t>(introduction)</a:t>
            </a:r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4684772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イントロダクションの構造</a:t>
            </a:r>
          </a:p>
        </p:txBody>
      </p:sp>
      <p:sp>
        <p:nvSpPr>
          <p:cNvPr id="4" name="台形 3"/>
          <p:cNvSpPr/>
          <p:nvPr/>
        </p:nvSpPr>
        <p:spPr>
          <a:xfrm rot="10800000">
            <a:off x="2459376" y="2060848"/>
            <a:ext cx="4320480" cy="3600400"/>
          </a:xfrm>
          <a:prstGeom prst="trapezoid">
            <a:avLst>
              <a:gd name="adj" fmla="val 46808"/>
            </a:avLst>
          </a:prstGeom>
          <a:gradFill>
            <a:gsLst>
              <a:gs pos="0">
                <a:srgbClr val="FF0000"/>
              </a:gs>
              <a:gs pos="100000">
                <a:srgbClr val="FF99CC"/>
              </a:gs>
            </a:gsLst>
            <a:lin ang="5400000" scaled="1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218958" y="1196752"/>
            <a:ext cx="48013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000" dirty="0"/>
              <a:t>広く抽象的な話から</a:t>
            </a:r>
            <a:endParaRPr kumimoji="1" lang="ja-JP" altLang="en-US" sz="4000" dirty="0"/>
          </a:p>
        </p:txBody>
      </p:sp>
      <p:sp>
        <p:nvSpPr>
          <p:cNvPr id="6" name="下矢印 5"/>
          <p:cNvSpPr/>
          <p:nvPr/>
        </p:nvSpPr>
        <p:spPr>
          <a:xfrm>
            <a:off x="4007547" y="2996952"/>
            <a:ext cx="1224136" cy="1626480"/>
          </a:xfrm>
          <a:prstGeom prst="down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2475439" y="5805264"/>
            <a:ext cx="42883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dirty="0"/>
              <a:t>狭く具体的な話へ</a:t>
            </a:r>
          </a:p>
        </p:txBody>
      </p:sp>
    </p:spTree>
    <p:extLst>
      <p:ext uri="{BB962C8B-B14F-4D97-AF65-F5344CB8AC3E}">
        <p14:creationId xmlns:p14="http://schemas.microsoft.com/office/powerpoint/2010/main" val="42479975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 dirty="0"/>
              <a:t>イントロダクションの構造</a:t>
            </a:r>
          </a:p>
        </p:txBody>
      </p:sp>
      <p:sp>
        <p:nvSpPr>
          <p:cNvPr id="4" name="正方形/長方形 3"/>
          <p:cNvSpPr/>
          <p:nvPr/>
        </p:nvSpPr>
        <p:spPr>
          <a:xfrm>
            <a:off x="251520" y="1988840"/>
            <a:ext cx="2160240" cy="720080"/>
          </a:xfrm>
          <a:prstGeom prst="rect">
            <a:avLst/>
          </a:prstGeom>
          <a:solidFill>
            <a:srgbClr val="CCE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963469" y="2132856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手法</a:t>
            </a:r>
          </a:p>
        </p:txBody>
      </p:sp>
      <p:sp>
        <p:nvSpPr>
          <p:cNvPr id="6" name="正方形/長方形 5"/>
          <p:cNvSpPr/>
          <p:nvPr/>
        </p:nvSpPr>
        <p:spPr>
          <a:xfrm>
            <a:off x="251520" y="2708920"/>
            <a:ext cx="2160240" cy="1440160"/>
          </a:xfrm>
          <a:prstGeom prst="rect">
            <a:avLst/>
          </a:prstGeom>
          <a:solidFill>
            <a:srgbClr val="FFC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971600" y="3183359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結果</a:t>
            </a:r>
            <a:endParaRPr kumimoji="1" lang="ja-JP" altLang="en-US" sz="2400" dirty="0"/>
          </a:p>
        </p:txBody>
      </p:sp>
      <p:sp>
        <p:nvSpPr>
          <p:cNvPr id="8" name="正方形/長方形 7"/>
          <p:cNvSpPr/>
          <p:nvPr/>
        </p:nvSpPr>
        <p:spPr>
          <a:xfrm>
            <a:off x="251520" y="4149080"/>
            <a:ext cx="2160240" cy="720080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971600" y="4293096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考察</a:t>
            </a:r>
            <a:endParaRPr kumimoji="1" lang="ja-JP" altLang="en-US" sz="2400" dirty="0"/>
          </a:p>
        </p:txBody>
      </p:sp>
      <p:sp>
        <p:nvSpPr>
          <p:cNvPr id="10" name="正方形/長方形 9"/>
          <p:cNvSpPr/>
          <p:nvPr/>
        </p:nvSpPr>
        <p:spPr>
          <a:xfrm>
            <a:off x="251520" y="4869160"/>
            <a:ext cx="2160240" cy="720080"/>
          </a:xfrm>
          <a:prstGeom prst="rect">
            <a:avLst/>
          </a:prstGeom>
          <a:solidFill>
            <a:srgbClr val="CC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971600" y="5013176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結論</a:t>
            </a:r>
            <a:endParaRPr kumimoji="1" lang="ja-JP" altLang="en-US" sz="2400" dirty="0"/>
          </a:p>
        </p:txBody>
      </p:sp>
      <p:sp>
        <p:nvSpPr>
          <p:cNvPr id="12" name="正方形/長方形 11"/>
          <p:cNvSpPr/>
          <p:nvPr/>
        </p:nvSpPr>
        <p:spPr>
          <a:xfrm>
            <a:off x="251520" y="1268760"/>
            <a:ext cx="2160240" cy="7200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251520" y="1484784"/>
            <a:ext cx="21515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dirty="0"/>
              <a:t>導入</a:t>
            </a:r>
            <a:r>
              <a:rPr lang="en-US" altLang="ja-JP" sz="2000" dirty="0"/>
              <a:t>(introduction)</a:t>
            </a:r>
            <a:endParaRPr kumimoji="1" lang="ja-JP" altLang="en-US" sz="2000" dirty="0"/>
          </a:p>
        </p:txBody>
      </p:sp>
      <p:sp>
        <p:nvSpPr>
          <p:cNvPr id="14" name="正方形/長方形 13"/>
          <p:cNvSpPr/>
          <p:nvPr/>
        </p:nvSpPr>
        <p:spPr>
          <a:xfrm>
            <a:off x="3131840" y="1268760"/>
            <a:ext cx="2160240" cy="14401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5580112" y="1844824"/>
            <a:ext cx="3018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なぜこの手法</a:t>
            </a:r>
            <a:r>
              <a:rPr kumimoji="1" lang="en-US" altLang="ja-JP" dirty="0"/>
              <a:t>/</a:t>
            </a:r>
            <a:r>
              <a:rPr kumimoji="1" lang="ja-JP" altLang="en-US" dirty="0"/>
              <a:t>分野が大事か</a:t>
            </a:r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3491880" y="1772816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/>
              <a:t>全体の背景</a:t>
            </a:r>
          </a:p>
        </p:txBody>
      </p:sp>
      <p:sp>
        <p:nvSpPr>
          <p:cNvPr id="17" name="正方形/長方形 16"/>
          <p:cNvSpPr/>
          <p:nvPr/>
        </p:nvSpPr>
        <p:spPr>
          <a:xfrm>
            <a:off x="3131840" y="2708920"/>
            <a:ext cx="2160240" cy="1440160"/>
          </a:xfrm>
          <a:prstGeom prst="rect">
            <a:avLst/>
          </a:prstGeom>
          <a:solidFill>
            <a:srgbClr val="FFC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3563888" y="3212976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dirty="0"/>
              <a:t>研究背景</a:t>
            </a:r>
            <a:endParaRPr kumimoji="1" lang="ja-JP" altLang="en-US" sz="2000" dirty="0"/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5508104" y="2924944"/>
            <a:ext cx="341632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これまでにどのような研究が</a:t>
            </a:r>
            <a:endParaRPr kumimoji="1" lang="en-US" altLang="ja-JP" dirty="0"/>
          </a:p>
          <a:p>
            <a:r>
              <a:rPr lang="ja-JP" altLang="en-US" dirty="0"/>
              <a:t>行われ、何が解決され、何が</a:t>
            </a:r>
            <a:endParaRPr lang="en-US" altLang="ja-JP" dirty="0"/>
          </a:p>
          <a:p>
            <a:r>
              <a:rPr kumimoji="1" lang="ja-JP" altLang="en-US" dirty="0"/>
              <a:t>未解決問題として残っているか</a:t>
            </a:r>
          </a:p>
        </p:txBody>
      </p:sp>
      <p:cxnSp>
        <p:nvCxnSpPr>
          <p:cNvPr id="20" name="直線コネクタ 19"/>
          <p:cNvCxnSpPr/>
          <p:nvPr/>
        </p:nvCxnSpPr>
        <p:spPr>
          <a:xfrm flipH="1">
            <a:off x="2411760" y="1268760"/>
            <a:ext cx="720080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正方形/長方形 22"/>
          <p:cNvSpPr/>
          <p:nvPr/>
        </p:nvSpPr>
        <p:spPr>
          <a:xfrm>
            <a:off x="3131840" y="4149080"/>
            <a:ext cx="2160240" cy="1440160"/>
          </a:xfrm>
          <a:prstGeom prst="rect">
            <a:avLst/>
          </a:prstGeom>
          <a:solidFill>
            <a:srgbClr val="CCE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4" name="テキスト ボックス 23"/>
          <p:cNvSpPr txBox="1"/>
          <p:nvPr/>
        </p:nvSpPr>
        <p:spPr>
          <a:xfrm>
            <a:off x="3563888" y="4653136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/>
              <a:t>研究概要</a:t>
            </a:r>
          </a:p>
        </p:txBody>
      </p:sp>
      <p:cxnSp>
        <p:nvCxnSpPr>
          <p:cNvPr id="25" name="直線コネクタ 24"/>
          <p:cNvCxnSpPr/>
          <p:nvPr/>
        </p:nvCxnSpPr>
        <p:spPr>
          <a:xfrm flipH="1" flipV="1">
            <a:off x="2411760" y="1988840"/>
            <a:ext cx="720080" cy="360040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テキスト ボックス 28"/>
          <p:cNvSpPr txBox="1"/>
          <p:nvPr/>
        </p:nvSpPr>
        <p:spPr>
          <a:xfrm>
            <a:off x="1763688" y="6309320"/>
            <a:ext cx="5032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※</a:t>
            </a:r>
            <a:r>
              <a:rPr lang="ja-JP" altLang="en-US" dirty="0"/>
              <a:t>流儀</a:t>
            </a:r>
            <a:r>
              <a:rPr kumimoji="1" lang="ja-JP" altLang="en-US" dirty="0"/>
              <a:t>はいろいろあるので、あくまで一例です</a:t>
            </a:r>
          </a:p>
        </p:txBody>
      </p:sp>
      <p:sp>
        <p:nvSpPr>
          <p:cNvPr id="30" name="テキスト ボックス 29"/>
          <p:cNvSpPr txBox="1"/>
          <p:nvPr/>
        </p:nvSpPr>
        <p:spPr>
          <a:xfrm>
            <a:off x="5580112" y="4406201"/>
            <a:ext cx="318548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以上の流れを受けて、この</a:t>
            </a:r>
            <a:endParaRPr kumimoji="1" lang="en-US" altLang="ja-JP" dirty="0"/>
          </a:p>
          <a:p>
            <a:r>
              <a:rPr lang="ja-JP" altLang="en-US" dirty="0"/>
              <a:t>研究では何を目的として何を</a:t>
            </a:r>
            <a:endParaRPr lang="en-US" altLang="ja-JP" dirty="0"/>
          </a:p>
          <a:p>
            <a:r>
              <a:rPr kumimoji="1" lang="ja-JP" altLang="en-US" dirty="0"/>
              <a:t>やるか</a:t>
            </a:r>
          </a:p>
        </p:txBody>
      </p:sp>
    </p:spTree>
    <p:extLst>
      <p:ext uri="{BB962C8B-B14F-4D97-AF65-F5344CB8AC3E}">
        <p14:creationId xmlns:p14="http://schemas.microsoft.com/office/powerpoint/2010/main" val="29537939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 dirty="0"/>
              <a:t>イントロダクションの構造</a:t>
            </a:r>
          </a:p>
        </p:txBody>
      </p:sp>
      <p:sp>
        <p:nvSpPr>
          <p:cNvPr id="7" name="正方形/長方形 6"/>
          <p:cNvSpPr/>
          <p:nvPr/>
        </p:nvSpPr>
        <p:spPr>
          <a:xfrm>
            <a:off x="395536" y="2309123"/>
            <a:ext cx="74764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dirty="0"/>
              <a:t>K. Shiina, H. Mori, Y. Okabe, and H.-K. Lee, Sci</a:t>
            </a:r>
            <a:r>
              <a:rPr lang="en-US" altLang="ja-JP" dirty="0"/>
              <a:t>.</a:t>
            </a:r>
            <a:r>
              <a:rPr lang="ja-JP" altLang="en-US" dirty="0"/>
              <a:t> Rep</a:t>
            </a:r>
            <a:r>
              <a:rPr lang="en-US" altLang="ja-JP" dirty="0"/>
              <a:t>.</a:t>
            </a:r>
            <a:r>
              <a:rPr lang="ja-JP" altLang="en-US" dirty="0"/>
              <a:t> </a:t>
            </a:r>
            <a:r>
              <a:rPr lang="ja-JP" altLang="en-US" b="1" dirty="0"/>
              <a:t>10</a:t>
            </a:r>
            <a:r>
              <a:rPr lang="ja-JP" altLang="en-US" dirty="0"/>
              <a:t>, 2177 (2020)</a:t>
            </a: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1691680" y="1177588"/>
            <a:ext cx="59529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実際の論文の</a:t>
            </a:r>
            <a:r>
              <a:rPr kumimoji="1" lang="en-US" altLang="ja-JP" sz="2800" dirty="0"/>
              <a:t>Introduction</a:t>
            </a:r>
            <a:r>
              <a:rPr kumimoji="1" lang="ja-JP" altLang="en-US" sz="2800" dirty="0"/>
              <a:t>を見てみる</a:t>
            </a:r>
          </a:p>
        </p:txBody>
      </p:sp>
      <p:pic>
        <p:nvPicPr>
          <p:cNvPr id="9" name="図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723" y="3057840"/>
            <a:ext cx="6001058" cy="3035456"/>
          </a:xfrm>
          <a:prstGeom prst="rect">
            <a:avLst/>
          </a:prstGeom>
        </p:spPr>
      </p:pic>
      <p:sp>
        <p:nvSpPr>
          <p:cNvPr id="10" name="正方形/長方形 9"/>
          <p:cNvSpPr/>
          <p:nvPr/>
        </p:nvSpPr>
        <p:spPr>
          <a:xfrm>
            <a:off x="359724" y="3057840"/>
            <a:ext cx="5976664" cy="647869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6552411" y="3129848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全体の背景</a:t>
            </a:r>
          </a:p>
        </p:txBody>
      </p:sp>
      <p:sp>
        <p:nvSpPr>
          <p:cNvPr id="12" name="正方形/長方形 11"/>
          <p:cNvSpPr/>
          <p:nvPr/>
        </p:nvSpPr>
        <p:spPr>
          <a:xfrm>
            <a:off x="359722" y="3725588"/>
            <a:ext cx="5976665" cy="802230"/>
          </a:xfrm>
          <a:prstGeom prst="rect">
            <a:avLst/>
          </a:prstGeom>
          <a:noFill/>
          <a:ln w="38100">
            <a:solidFill>
              <a:srgbClr val="FF8AD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/>
          <p:cNvSpPr/>
          <p:nvPr/>
        </p:nvSpPr>
        <p:spPr>
          <a:xfrm>
            <a:off x="359724" y="4570008"/>
            <a:ext cx="5976663" cy="1512168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6552411" y="384992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研究背景</a:t>
            </a:r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6552411" y="5074064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研究概要</a:t>
            </a:r>
          </a:p>
        </p:txBody>
      </p:sp>
      <p:sp>
        <p:nvSpPr>
          <p:cNvPr id="3" name="正方形/長方形 2"/>
          <p:cNvSpPr/>
          <p:nvPr/>
        </p:nvSpPr>
        <p:spPr>
          <a:xfrm>
            <a:off x="1403648" y="1916832"/>
            <a:ext cx="5400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b="1" dirty="0">
                <a:latin typeface="Corbel-Bold2"/>
              </a:rPr>
              <a:t>Machine-Learning Studies on Spin</a:t>
            </a:r>
            <a:r>
              <a:rPr lang="ja-JP" altLang="en-US" b="1" dirty="0">
                <a:latin typeface="Corbel-Bold2"/>
              </a:rPr>
              <a:t> </a:t>
            </a:r>
            <a:r>
              <a:rPr lang="en-US" altLang="ja-JP" b="1" dirty="0">
                <a:latin typeface="Corbel-Bold2"/>
              </a:rPr>
              <a:t>Models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358900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/>
          <p:cNvSpPr/>
          <p:nvPr/>
        </p:nvSpPr>
        <p:spPr>
          <a:xfrm>
            <a:off x="251520" y="2780928"/>
            <a:ext cx="8352928" cy="13681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" name="テキスト プレースホルダー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 dirty="0"/>
              <a:t>イントロダクションの構造</a:t>
            </a:r>
          </a:p>
        </p:txBody>
      </p:sp>
      <p:sp>
        <p:nvSpPr>
          <p:cNvPr id="3" name="正方形/長方形 2"/>
          <p:cNvSpPr/>
          <p:nvPr/>
        </p:nvSpPr>
        <p:spPr>
          <a:xfrm>
            <a:off x="3491880" y="1268760"/>
            <a:ext cx="2160240" cy="7200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3838466" y="1424947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/>
              <a:t>全体の背景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827584" y="2132856"/>
            <a:ext cx="72635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論文の冒頭で、</a:t>
            </a:r>
            <a:r>
              <a:rPr kumimoji="1" lang="ja-JP" altLang="en-US" sz="2400" dirty="0"/>
              <a:t>この手法や分野の重要性を説明する</a:t>
            </a:r>
            <a:endParaRPr kumimoji="1" lang="en-US" altLang="ja-JP" sz="2400" dirty="0"/>
          </a:p>
        </p:txBody>
      </p:sp>
      <p:sp>
        <p:nvSpPr>
          <p:cNvPr id="6" name="正方形/長方形 5"/>
          <p:cNvSpPr/>
          <p:nvPr/>
        </p:nvSpPr>
        <p:spPr>
          <a:xfrm>
            <a:off x="395536" y="3501008"/>
            <a:ext cx="835292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dirty="0"/>
              <a:t>Numerical simulations, such as Monte Carlo methods, have been successfully employed in the study of phase transitions and critical phenomena </a:t>
            </a:r>
            <a:r>
              <a:rPr lang="ja-JP" altLang="en-US" dirty="0">
                <a:solidFill>
                  <a:srgbClr val="FF0000"/>
                </a:solidFill>
              </a:rPr>
              <a:t>[1]</a:t>
            </a:r>
            <a:r>
              <a:rPr lang="ja-JP" altLang="en-US" dirty="0"/>
              <a:t>.</a:t>
            </a: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323528" y="2852936"/>
            <a:ext cx="80329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モンテカルロ法などの数値シミュレーションは、相転移や臨界現象の研究で</a:t>
            </a:r>
            <a:endParaRPr kumimoji="1" lang="en-US" altLang="ja-JP" dirty="0"/>
          </a:p>
          <a:p>
            <a:r>
              <a:rPr lang="ja-JP" altLang="en-US" dirty="0"/>
              <a:t>広く使われており、成功を収めている。</a:t>
            </a:r>
            <a:endParaRPr kumimoji="1" lang="ja-JP" altLang="en-US" dirty="0"/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251520" y="4365104"/>
            <a:ext cx="8424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冒頭で一番最初に単独で引用されるのは、その分野の有名な教科書や、レビュー論文で</a:t>
            </a:r>
            <a:r>
              <a:rPr kumimoji="1" lang="ja-JP" altLang="en-US" dirty="0"/>
              <a:t>あることが多い</a:t>
            </a:r>
          </a:p>
        </p:txBody>
      </p:sp>
      <p:sp>
        <p:nvSpPr>
          <p:cNvPr id="12" name="正方形/長方形 11"/>
          <p:cNvSpPr/>
          <p:nvPr/>
        </p:nvSpPr>
        <p:spPr>
          <a:xfrm>
            <a:off x="251520" y="5157192"/>
            <a:ext cx="8352928" cy="720080"/>
          </a:xfrm>
          <a:prstGeom prst="rect">
            <a:avLst/>
          </a:prstGeom>
          <a:solidFill>
            <a:srgbClr val="CC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3" name="正方形/長方形 12"/>
          <p:cNvSpPr/>
          <p:nvPr/>
        </p:nvSpPr>
        <p:spPr>
          <a:xfrm>
            <a:off x="251520" y="5157192"/>
            <a:ext cx="82089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rgbClr val="FF0000"/>
                </a:solidFill>
              </a:rPr>
              <a:t>[1]</a:t>
            </a:r>
            <a:r>
              <a:rPr lang="ja-JP" altLang="en-US" dirty="0"/>
              <a:t> D. P. Landau &amp; K. Binder A Guide to Monte Carlo Simulations in Statistical Physics, 4th edition, (Cambridge University Press, Cambridge, 2014).</a:t>
            </a:r>
          </a:p>
        </p:txBody>
      </p:sp>
    </p:spTree>
    <p:extLst>
      <p:ext uri="{BB962C8B-B14F-4D97-AF65-F5344CB8AC3E}">
        <p14:creationId xmlns:p14="http://schemas.microsoft.com/office/powerpoint/2010/main" val="2171486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 dirty="0"/>
              <a:t>イントロダクションの構造</a:t>
            </a:r>
          </a:p>
        </p:txBody>
      </p:sp>
      <p:sp>
        <p:nvSpPr>
          <p:cNvPr id="3" name="正方形/長方形 2"/>
          <p:cNvSpPr/>
          <p:nvPr/>
        </p:nvSpPr>
        <p:spPr>
          <a:xfrm>
            <a:off x="3491880" y="1268760"/>
            <a:ext cx="2160240" cy="720080"/>
          </a:xfrm>
          <a:prstGeom prst="rect">
            <a:avLst/>
          </a:prstGeom>
          <a:solidFill>
            <a:srgbClr val="FFC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3966706" y="1424947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/>
              <a:t>研究背景</a:t>
            </a: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2411760" y="2132856"/>
            <a:ext cx="56886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ja-JP" altLang="en-US" sz="2400" dirty="0"/>
              <a:t>どのような研究が</a:t>
            </a:r>
            <a:r>
              <a:rPr lang="ja-JP" altLang="en-US" sz="2400" dirty="0"/>
              <a:t>行われ</a:t>
            </a:r>
            <a:endParaRPr lang="en-US" altLang="ja-JP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400" dirty="0"/>
              <a:t>何が解決され</a:t>
            </a:r>
            <a:endParaRPr lang="en-US" altLang="ja-JP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400" dirty="0"/>
              <a:t>何が</a:t>
            </a:r>
            <a:r>
              <a:rPr kumimoji="1" lang="ja-JP" altLang="en-US" sz="2400" dirty="0"/>
              <a:t>未解決問題として残っているか</a:t>
            </a:r>
          </a:p>
        </p:txBody>
      </p:sp>
      <p:sp>
        <p:nvSpPr>
          <p:cNvPr id="7" name="正方形/長方形 6"/>
          <p:cNvSpPr/>
          <p:nvPr/>
        </p:nvSpPr>
        <p:spPr>
          <a:xfrm>
            <a:off x="539552" y="2492896"/>
            <a:ext cx="17235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2400" dirty="0"/>
              <a:t>これまでに</a:t>
            </a: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120400" y="4595644"/>
            <a:ext cx="884408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関連研究がまとめて紹介されることが多い</a:t>
            </a:r>
            <a:endParaRPr lang="en-US" altLang="ja-JP" sz="2400" dirty="0"/>
          </a:p>
          <a:p>
            <a:r>
              <a:rPr kumimoji="1" lang="ja-JP" altLang="en-US" sz="2400" dirty="0"/>
              <a:t>「</a:t>
            </a:r>
            <a:r>
              <a:rPr kumimoji="1" lang="en-US" altLang="ja-JP" sz="2400" dirty="0"/>
              <a:t>recently</a:t>
            </a:r>
            <a:r>
              <a:rPr kumimoji="1" lang="ja-JP" altLang="en-US" sz="2400" dirty="0"/>
              <a:t>」というキーワードが使われることが多い</a:t>
            </a:r>
            <a:endParaRPr kumimoji="1" lang="en-US" altLang="ja-JP" sz="2400" dirty="0"/>
          </a:p>
          <a:p>
            <a:r>
              <a:rPr lang="ja-JP" altLang="en-US" sz="2400" dirty="0"/>
              <a:t>続けて、</a:t>
            </a:r>
            <a:r>
              <a:rPr kumimoji="1" lang="ja-JP" altLang="en-US" sz="2400" dirty="0"/>
              <a:t>まとめて引用されたうちいくつかを紹介することも</a:t>
            </a:r>
            <a:endParaRPr kumimoji="1" lang="en-US" altLang="ja-JP" sz="2400" dirty="0"/>
          </a:p>
          <a:p>
            <a:r>
              <a:rPr lang="ja-JP" altLang="en-US" sz="2400" dirty="0"/>
              <a:t>ここに「</a:t>
            </a:r>
            <a:r>
              <a:rPr lang="en-US" altLang="ja-JP" sz="2400" dirty="0"/>
              <a:t>while</a:t>
            </a:r>
            <a:r>
              <a:rPr lang="ja-JP" altLang="en-US" sz="2400" dirty="0"/>
              <a:t>」があると、未解決部分の説明があることが多い</a:t>
            </a:r>
            <a:endParaRPr lang="en-US" altLang="ja-JP" sz="2400" dirty="0"/>
          </a:p>
        </p:txBody>
      </p:sp>
      <p:sp>
        <p:nvSpPr>
          <p:cNvPr id="10" name="正方形/長方形 9"/>
          <p:cNvSpPr/>
          <p:nvPr/>
        </p:nvSpPr>
        <p:spPr>
          <a:xfrm>
            <a:off x="395536" y="3573016"/>
            <a:ext cx="8280920" cy="936104"/>
          </a:xfrm>
          <a:prstGeom prst="rect">
            <a:avLst/>
          </a:prstGeom>
          <a:solidFill>
            <a:srgbClr val="FFC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9" name="正方形/長方形 8"/>
          <p:cNvSpPr/>
          <p:nvPr/>
        </p:nvSpPr>
        <p:spPr>
          <a:xfrm>
            <a:off x="467544" y="4077072"/>
            <a:ext cx="820891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dirty="0"/>
              <a:t>Several spin models have </a:t>
            </a:r>
            <a:r>
              <a:rPr lang="ja-JP" altLang="en-US" dirty="0">
                <a:solidFill>
                  <a:srgbClr val="FF0000"/>
                </a:solidFill>
              </a:rPr>
              <a:t>recently</a:t>
            </a:r>
            <a:r>
              <a:rPr lang="ja-JP" altLang="en-US" dirty="0"/>
              <a:t> been studied through machine learning </a:t>
            </a:r>
            <a:r>
              <a:rPr lang="ja-JP" altLang="en-US" dirty="0">
                <a:solidFill>
                  <a:srgbClr val="FF0000"/>
                </a:solidFill>
              </a:rPr>
              <a:t>[2-6]</a:t>
            </a:r>
            <a:r>
              <a:rPr lang="ja-JP" altLang="en-US" dirty="0"/>
              <a:t>.</a:t>
            </a: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467544" y="3645024"/>
            <a:ext cx="6647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最近、いくつかのスピン系が機械学習により研究されている。</a:t>
            </a:r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1763688" y="6309320"/>
            <a:ext cx="44903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※</a:t>
            </a:r>
            <a:r>
              <a:rPr lang="ja-JP" altLang="en-US" dirty="0"/>
              <a:t>流儀</a:t>
            </a:r>
            <a:r>
              <a:rPr kumimoji="1" lang="ja-JP" altLang="en-US" dirty="0"/>
              <a:t>はいろいろあるので、あくまで</a:t>
            </a:r>
            <a:r>
              <a:rPr lang="en-US" altLang="ja-JP" dirty="0"/>
              <a:t>(</a:t>
            </a:r>
            <a:r>
              <a:rPr lang="ja-JP" altLang="en-US" dirty="0"/>
              <a:t>略</a:t>
            </a:r>
            <a:r>
              <a:rPr lang="en-US" altLang="ja-JP" dirty="0"/>
              <a:t>)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214298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/>
          <p:cNvSpPr/>
          <p:nvPr/>
        </p:nvSpPr>
        <p:spPr>
          <a:xfrm>
            <a:off x="107504" y="3140968"/>
            <a:ext cx="8928992" cy="936104"/>
          </a:xfrm>
          <a:prstGeom prst="rect">
            <a:avLst/>
          </a:prstGeom>
          <a:solidFill>
            <a:srgbClr val="CCE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" name="テキスト プレースホルダー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 dirty="0"/>
              <a:t>イントロダクションの構造</a:t>
            </a:r>
          </a:p>
        </p:txBody>
      </p:sp>
      <p:sp>
        <p:nvSpPr>
          <p:cNvPr id="3" name="正方形/長方形 2"/>
          <p:cNvSpPr/>
          <p:nvPr/>
        </p:nvSpPr>
        <p:spPr>
          <a:xfrm>
            <a:off x="3491880" y="1268760"/>
            <a:ext cx="2160240" cy="720080"/>
          </a:xfrm>
          <a:prstGeom prst="rect">
            <a:avLst/>
          </a:prstGeom>
          <a:solidFill>
            <a:srgbClr val="CCE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3966706" y="1424947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/>
              <a:t>研究概要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799684" y="2175247"/>
            <a:ext cx="57246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この研究では</a:t>
            </a:r>
            <a:r>
              <a:rPr lang="ja-JP" altLang="en-US" sz="2400" dirty="0"/>
              <a:t>何を目的として</a:t>
            </a:r>
            <a:r>
              <a:rPr kumimoji="1" lang="ja-JP" altLang="en-US" sz="2400" dirty="0"/>
              <a:t>何をやるか</a:t>
            </a:r>
            <a:endParaRPr kumimoji="1" lang="en-US" altLang="ja-JP" sz="2400" dirty="0"/>
          </a:p>
        </p:txBody>
      </p:sp>
      <p:sp>
        <p:nvSpPr>
          <p:cNvPr id="6" name="正方形/長方形 5"/>
          <p:cNvSpPr/>
          <p:nvPr/>
        </p:nvSpPr>
        <p:spPr>
          <a:xfrm>
            <a:off x="323528" y="3284984"/>
            <a:ext cx="871296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1600" dirty="0"/>
              <a:t>本研究では、CarrasquillaとMelkoが提案した手法を拡張、一般化する。</a:t>
            </a:r>
          </a:p>
          <a:p>
            <a:r>
              <a:rPr lang="ja-JP" altLang="en-US" sz="1600" dirty="0">
                <a:solidFill>
                  <a:srgbClr val="FF0000"/>
                </a:solidFill>
              </a:rPr>
              <a:t>In this study, we</a:t>
            </a:r>
            <a:r>
              <a:rPr lang="ja-JP" altLang="en-US" sz="1600" dirty="0"/>
              <a:t> extend and generalize the method proposed by Carrasquilla and Melko [2].</a:t>
            </a: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179512" y="4293096"/>
            <a:ext cx="79666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dirty="0"/>
              <a:t>「</a:t>
            </a:r>
            <a:r>
              <a:rPr lang="en-US" altLang="ja-JP" sz="2000" dirty="0"/>
              <a:t>In this study</a:t>
            </a:r>
            <a:r>
              <a:rPr lang="ja-JP" altLang="en-US" sz="2000" dirty="0"/>
              <a:t>」や「</a:t>
            </a:r>
            <a:r>
              <a:rPr lang="en-US" altLang="ja-JP" sz="2000" dirty="0"/>
              <a:t>We</a:t>
            </a:r>
            <a:r>
              <a:rPr lang="ja-JP" altLang="en-US" sz="2000" dirty="0"/>
              <a:t>」というキーワードが使われることが多い</a:t>
            </a:r>
            <a:endParaRPr lang="en-US" altLang="ja-JP" sz="2000" dirty="0"/>
          </a:p>
          <a:p>
            <a:r>
              <a:rPr lang="ja-JP" altLang="en-US" sz="2000" dirty="0"/>
              <a:t>最後に論文の構造を説明することが多い</a:t>
            </a:r>
            <a:endParaRPr lang="en-US" altLang="ja-JP" sz="2000" dirty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107504" y="5229200"/>
            <a:ext cx="813184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dirty="0"/>
              <a:t>ここで、「直接の親」が Carrasquilla and Melko [2]であることがわかる</a:t>
            </a:r>
            <a:endParaRPr lang="en-US" altLang="ja-JP" sz="2000" dirty="0"/>
          </a:p>
          <a:p>
            <a:r>
              <a:rPr lang="en-US" altLang="ja-JP" sz="2000" dirty="0"/>
              <a:t>(</a:t>
            </a:r>
            <a:r>
              <a:rPr lang="ja-JP" altLang="en-US" sz="2000" dirty="0"/>
              <a:t>一般的には「研究背景」に「親」の記述があることが多い</a:t>
            </a:r>
            <a:r>
              <a:rPr lang="en-US" altLang="ja-JP" sz="2000" dirty="0"/>
              <a:t>)</a:t>
            </a: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3131840" y="6309320"/>
            <a:ext cx="2476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※</a:t>
            </a:r>
            <a:r>
              <a:rPr lang="ja-JP" altLang="en-US" dirty="0"/>
              <a:t>流儀</a:t>
            </a:r>
            <a:r>
              <a:rPr kumimoji="1" lang="ja-JP" altLang="en-US" dirty="0"/>
              <a:t>はいろいろ </a:t>
            </a:r>
            <a:r>
              <a:rPr lang="en-US" altLang="ja-JP" dirty="0"/>
              <a:t>(</a:t>
            </a:r>
            <a:r>
              <a:rPr lang="ja-JP" altLang="en-US" dirty="0"/>
              <a:t>略</a:t>
            </a:r>
            <a:r>
              <a:rPr lang="en-US" altLang="ja-JP" dirty="0"/>
              <a:t>)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4741743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論文を渡されたら</a:t>
            </a: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1043608" y="3356992"/>
            <a:ext cx="739817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742950" indent="-742950">
              <a:buAutoNum type="arabicPeriod"/>
            </a:pPr>
            <a:r>
              <a:rPr kumimoji="1" lang="ja-JP" altLang="en-US" sz="3600" dirty="0"/>
              <a:t>まずイントロダクションを読む</a:t>
            </a:r>
            <a:endParaRPr lang="en-US" altLang="ja-JP" sz="3600" dirty="0"/>
          </a:p>
          <a:p>
            <a:pPr marL="742950" indent="-742950">
              <a:buAutoNum type="arabicPeriod"/>
            </a:pPr>
            <a:r>
              <a:rPr kumimoji="1" lang="ja-JP" altLang="en-US" sz="3600" dirty="0"/>
              <a:t>関連論文にあたりをつける</a:t>
            </a:r>
            <a:endParaRPr lang="en-US" altLang="ja-JP" sz="3600" dirty="0"/>
          </a:p>
          <a:p>
            <a:pPr marL="742950" indent="-742950">
              <a:buAutoNum type="arabicPeriod"/>
            </a:pPr>
            <a:r>
              <a:rPr kumimoji="1" lang="ja-JP" altLang="en-US" sz="3600" dirty="0"/>
              <a:t>関連論文をダウンロードする</a:t>
            </a:r>
            <a:endParaRPr kumimoji="1" lang="en-US" altLang="ja-JP" sz="3600" dirty="0"/>
          </a:p>
          <a:p>
            <a:pPr marL="742950" indent="-742950">
              <a:buAutoNum type="arabicPeriod"/>
            </a:pPr>
            <a:r>
              <a:rPr lang="ja-JP" altLang="en-US" sz="3600" dirty="0"/>
              <a:t>収束するまで</a:t>
            </a:r>
            <a:r>
              <a:rPr lang="en-US" altLang="ja-JP" sz="3600" dirty="0"/>
              <a:t>1</a:t>
            </a:r>
            <a:r>
              <a:rPr lang="ja-JP" altLang="en-US" sz="3600" dirty="0"/>
              <a:t>～</a:t>
            </a:r>
            <a:r>
              <a:rPr lang="en-US" altLang="ja-JP" sz="3600" dirty="0"/>
              <a:t>3</a:t>
            </a:r>
            <a:r>
              <a:rPr lang="ja-JP" altLang="en-US" sz="3600" dirty="0"/>
              <a:t>を繰り返す</a:t>
            </a:r>
            <a:endParaRPr kumimoji="1" lang="ja-JP" altLang="en-US" sz="3600" dirty="0"/>
          </a:p>
        </p:txBody>
      </p:sp>
      <p:pic>
        <p:nvPicPr>
          <p:cNvPr id="4" name="Picture 6" descr="バツのマークのイラスト「×」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129099"/>
            <a:ext cx="864096" cy="864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8" descr="丸のマークのイラスト「○」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2060848"/>
            <a:ext cx="720079" cy="720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テキスト ボックス 5"/>
          <p:cNvSpPr txBox="1"/>
          <p:nvPr/>
        </p:nvSpPr>
        <p:spPr>
          <a:xfrm>
            <a:off x="1475656" y="1268760"/>
            <a:ext cx="67505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dirty="0"/>
              <a:t>その論文を熟読して内容を理解する</a:t>
            </a:r>
            <a:endParaRPr kumimoji="1" lang="ja-JP" altLang="en-US" sz="3200" dirty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475656" y="2128500"/>
            <a:ext cx="71609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dirty="0"/>
              <a:t>その論文の研究上の位置づけを調べる</a:t>
            </a:r>
            <a:endParaRPr kumimoji="1" lang="ja-JP" altLang="en-US" sz="3200" dirty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323528" y="6237312"/>
            <a:ext cx="81355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dirty="0"/>
              <a:t>収束：「あ、この論文読んだな」の出現確率が一定以上高くなること</a:t>
            </a:r>
            <a:endParaRPr lang="en-US" altLang="ja-JP" sz="2000" dirty="0"/>
          </a:p>
        </p:txBody>
      </p:sp>
    </p:spTree>
    <p:extLst>
      <p:ext uri="{BB962C8B-B14F-4D97-AF65-F5344CB8AC3E}">
        <p14:creationId xmlns:p14="http://schemas.microsoft.com/office/powerpoint/2010/main" val="35756285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その他雑多なこと</a:t>
            </a: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107504" y="908720"/>
            <a:ext cx="885698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ja-JP" altLang="en-US" sz="2800" dirty="0"/>
              <a:t>多くの論文から「冒頭」で引用されているレビュー論文は一度読んでみると良い</a:t>
            </a:r>
            <a:endParaRPr kumimoji="1" lang="en-US" altLang="ja-JP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ja-JP" sz="2800" dirty="0"/>
              <a:t>DL</a:t>
            </a:r>
            <a:r>
              <a:rPr lang="ja-JP" altLang="en-US" sz="2800" dirty="0"/>
              <a:t>した論文は</a:t>
            </a:r>
            <a:r>
              <a:rPr lang="en-US" altLang="ja-JP" sz="2800" dirty="0"/>
              <a:t>(</a:t>
            </a:r>
            <a:r>
              <a:rPr lang="ja-JP" altLang="en-US" sz="2800" dirty="0"/>
              <a:t>読まなくても</a:t>
            </a:r>
            <a:r>
              <a:rPr lang="en-US" altLang="ja-JP" sz="2800" dirty="0"/>
              <a:t>)</a:t>
            </a:r>
            <a:r>
              <a:rPr lang="ja-JP" altLang="en-US" sz="2800" dirty="0"/>
              <a:t>保存しておく</a:t>
            </a:r>
            <a:br>
              <a:rPr lang="en-US" altLang="ja-JP" sz="2800" dirty="0"/>
            </a:br>
            <a:r>
              <a:rPr lang="ja-JP" altLang="en-US" sz="2800" dirty="0"/>
              <a:t>→文献管理ソフトウェアを活用</a:t>
            </a:r>
            <a:endParaRPr kumimoji="1" lang="ja-JP" altLang="en-US" sz="2800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0C315C0-6E9F-62CD-6E20-4445055D51A7}"/>
              </a:ext>
            </a:extLst>
          </p:cNvPr>
          <p:cNvSpPr txBox="1"/>
          <p:nvPr/>
        </p:nvSpPr>
        <p:spPr>
          <a:xfrm>
            <a:off x="107504" y="2852936"/>
            <a:ext cx="38475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Google Scholar</a:t>
            </a:r>
            <a:r>
              <a:rPr kumimoji="1" lang="ja-JP" altLang="en-US" sz="2400" dirty="0"/>
              <a:t>の保存機能</a:t>
            </a:r>
            <a:endParaRPr kumimoji="1" lang="en-US" altLang="ja-JP" sz="2400" dirty="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FE16836F-6FBD-A0DB-1F11-36B6569FDF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3356992"/>
            <a:ext cx="6444208" cy="1629840"/>
          </a:xfrm>
          <a:prstGeom prst="rect">
            <a:avLst/>
          </a:prstGeom>
        </p:spPr>
      </p:pic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481771E3-25AB-7BEA-6161-367A221ED5A5}"/>
              </a:ext>
            </a:extLst>
          </p:cNvPr>
          <p:cNvSpPr/>
          <p:nvPr/>
        </p:nvSpPr>
        <p:spPr>
          <a:xfrm>
            <a:off x="1763688" y="4293096"/>
            <a:ext cx="360040" cy="21602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B12DCA11-6D4B-3419-0756-26FCD41E5A73}"/>
              </a:ext>
            </a:extLst>
          </p:cNvPr>
          <p:cNvSpPr/>
          <p:nvPr/>
        </p:nvSpPr>
        <p:spPr>
          <a:xfrm>
            <a:off x="6444208" y="3573016"/>
            <a:ext cx="792088" cy="21602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493DDE04-2E6D-936E-E6CB-D658F0AD49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5733256"/>
            <a:ext cx="8383170" cy="962159"/>
          </a:xfrm>
          <a:prstGeom prst="rect">
            <a:avLst/>
          </a:prstGeom>
        </p:spPr>
      </p:pic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62A7B530-CF41-474D-4F32-BE8C366D6001}"/>
              </a:ext>
            </a:extLst>
          </p:cNvPr>
          <p:cNvSpPr txBox="1"/>
          <p:nvPr/>
        </p:nvSpPr>
        <p:spPr>
          <a:xfrm>
            <a:off x="179512" y="5229200"/>
            <a:ext cx="45480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err="1"/>
              <a:t>Paperpile</a:t>
            </a:r>
            <a:r>
              <a:rPr lang="ja-JP" altLang="en-US" sz="2400" dirty="0"/>
              <a:t> </a:t>
            </a:r>
            <a:r>
              <a:rPr lang="en-US" altLang="ja-JP" sz="2400" dirty="0"/>
              <a:t>(</a:t>
            </a:r>
            <a:r>
              <a:rPr lang="ja-JP" altLang="en-US" sz="2400" dirty="0"/>
              <a:t>有料：無料期間あり</a:t>
            </a:r>
            <a:r>
              <a:rPr lang="en-US" altLang="ja-JP" sz="2400"/>
              <a:t>)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7892978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まとめ</a:t>
            </a: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179512" y="1340768"/>
            <a:ext cx="856895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ja-JP" altLang="en-US" sz="3200" dirty="0"/>
              <a:t>「この論文読んでみて」と言われたら</a:t>
            </a:r>
            <a:r>
              <a:rPr lang="ja-JP" altLang="en-US" sz="3200" dirty="0"/>
              <a:t>、</a:t>
            </a:r>
            <a:br>
              <a:rPr lang="en-US" altLang="ja-JP" sz="3200" dirty="0"/>
            </a:br>
            <a:r>
              <a:rPr kumimoji="1" lang="ja-JP" altLang="en-US" sz="3200" dirty="0"/>
              <a:t>その論文の引用文献も読む</a:t>
            </a:r>
            <a:endParaRPr kumimoji="1" lang="en-US" altLang="ja-JP" sz="3200" dirty="0"/>
          </a:p>
          <a:p>
            <a:endParaRPr kumimoji="1" lang="en-US" altLang="ja-JP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ja-JP" altLang="en-US" sz="3200" dirty="0"/>
              <a:t>どの引用文献を読むべきか</a:t>
            </a:r>
            <a:r>
              <a:rPr lang="ja-JP" altLang="en-US" sz="3200" dirty="0" err="1"/>
              <a:t>は</a:t>
            </a:r>
            <a:r>
              <a:rPr lang="ja-JP" altLang="en-US" sz="3200" dirty="0"/>
              <a:t>、イントロであたりをつける</a:t>
            </a:r>
            <a:endParaRPr lang="en-US" altLang="ja-JP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ja-JP" altLang="en-US" sz="3200" dirty="0"/>
              <a:t>必要に応じて、引用文献の引用文献も読む</a:t>
            </a:r>
            <a:endParaRPr lang="en-US" altLang="ja-JP" sz="3200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555776" y="5085184"/>
            <a:ext cx="6120680" cy="1224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論文の引用文献、引用文献の引用文献</a:t>
            </a:r>
            <a:r>
              <a:rPr lang="en-US" altLang="ja-JP" sz="2400" dirty="0"/>
              <a:t>……</a:t>
            </a:r>
            <a:r>
              <a:rPr kumimoji="1" lang="ja-JP" altLang="en-US" sz="2400" dirty="0"/>
              <a:t>際限なく「読むべき論文」が増えてい</a:t>
            </a:r>
            <a:r>
              <a:rPr lang="ja-JP" altLang="en-US" sz="2400" dirty="0"/>
              <a:t>きますが、がんばりましょう</a:t>
            </a:r>
            <a:endParaRPr kumimoji="1" lang="en-US" altLang="ja-JP" sz="2400" dirty="0"/>
          </a:p>
        </p:txBody>
      </p:sp>
      <p:pic>
        <p:nvPicPr>
          <p:cNvPr id="2050" name="Picture 2" descr="忙しく仕事をしている白衣の女性のイラスト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4869160"/>
            <a:ext cx="1714500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テキスト ボックス 4"/>
          <p:cNvSpPr txBox="1"/>
          <p:nvPr/>
        </p:nvSpPr>
        <p:spPr>
          <a:xfrm>
            <a:off x="3851920" y="2420888"/>
            <a:ext cx="50321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/>
              <a:t>※</a:t>
            </a:r>
            <a:r>
              <a:rPr lang="ja-JP" altLang="en-US" sz="1400"/>
              <a:t>慣れない分野の論文を一編だけ読んで理解するのは不可能</a:t>
            </a:r>
            <a:endParaRPr kumimoji="1" lang="ja-JP" altLang="en-US" sz="1400"/>
          </a:p>
        </p:txBody>
      </p:sp>
    </p:spTree>
    <p:extLst>
      <p:ext uri="{BB962C8B-B14F-4D97-AF65-F5344CB8AC3E}">
        <p14:creationId xmlns:p14="http://schemas.microsoft.com/office/powerpoint/2010/main" val="1269278059"/>
      </p:ext>
    </p:extLst>
  </p:cSld>
  <p:clrMapOvr>
    <a:masterClrMapping/>
  </p:clrMapOvr>
</p:sld>
</file>

<file path=ppt/theme/theme1.xml><?xml version="1.0" encoding="utf-8"?>
<a:theme xmlns:a="http://schemas.openxmlformats.org/drawingml/2006/main" name="パーセル">
  <a:themeElements>
    <a:clrScheme name="パーセル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講義用">
      <a:majorFont>
        <a:latin typeface="Arial"/>
        <a:ea typeface="HGｺﾞｼｯｸE"/>
        <a:cs typeface=""/>
      </a:majorFont>
      <a:minorFont>
        <a:latin typeface="Arial"/>
        <a:ea typeface="HGｺﾞｼｯｸE"/>
        <a:cs typeface=""/>
      </a:minorFont>
    </a:fontScheme>
    <a:fmtScheme name="パーセル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>
    <a:spDef>
      <a:spPr>
        <a:solidFill>
          <a:srgbClr val="FF0000"/>
        </a:solidFill>
        <a:ln>
          <a:solidFill>
            <a:schemeClr val="tx1"/>
          </a:solidFill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{11DA09EC-ABC8-2D40-8DBB-00E840906C4E}tf10001120</Template>
  <TotalTime>2765</TotalTime>
  <Words>1046</Words>
  <Application>Microsoft Office PowerPoint</Application>
  <PresentationFormat>画面に合わせる (4:3)</PresentationFormat>
  <Paragraphs>140</Paragraphs>
  <Slides>17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17</vt:i4>
      </vt:variant>
    </vt:vector>
  </HeadingPairs>
  <TitlesOfParts>
    <vt:vector size="21" baseType="lpstr">
      <vt:lpstr>Corbel-Bold2</vt:lpstr>
      <vt:lpstr>游ゴシック</vt:lpstr>
      <vt:lpstr>Arial</vt:lpstr>
      <vt:lpstr>パーセル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watanabe</dc:creator>
  <cp:lastModifiedBy>watanabe_hiroshi@keio.jp</cp:lastModifiedBy>
  <cp:revision>527</cp:revision>
  <dcterms:created xsi:type="dcterms:W3CDTF">2019-01-02T05:23:01Z</dcterms:created>
  <dcterms:modified xsi:type="dcterms:W3CDTF">2026-02-19T04:49:03Z</dcterms:modified>
</cp:coreProperties>
</file>