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df" ContentType="application/pd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16"/>
  </p:notesMasterIdLst>
  <p:sldIdLst>
    <p:sldId id="256" r:id="rId2"/>
    <p:sldId id="257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6" r:id="rId14"/>
    <p:sldId id="285" r:id="rId15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  <a:srgbClr val="FF8AD8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9" autoAdjust="0"/>
    <p:restoredTop sz="94660"/>
  </p:normalViewPr>
  <p:slideViewPr>
    <p:cSldViewPr>
      <p:cViewPr varScale="1">
        <p:scale>
          <a:sx n="63" d="100"/>
          <a:sy n="63" d="100"/>
        </p:scale>
        <p:origin x="1480" y="5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2026/1/15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円/楕円 3">
            <a:extLst>
              <a:ext uri="{FF2B5EF4-FFF2-40B4-BE49-F238E27FC236}">
                <a16:creationId xmlns:a16="http://schemas.microsoft.com/office/drawing/2014/main" id="{40BD511A-FE9E-B641-A323-1F2451D0C873}"/>
              </a:ext>
            </a:extLst>
          </p:cNvPr>
          <p:cNvSpPr/>
          <p:nvPr userDrawn="1"/>
        </p:nvSpPr>
        <p:spPr>
          <a:xfrm>
            <a:off x="8651631" y="6350558"/>
            <a:ext cx="411982" cy="4119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0A01A1C-B0C5-904D-963A-785848775F4A}"/>
              </a:ext>
            </a:extLst>
          </p:cNvPr>
          <p:cNvSpPr txBox="1"/>
          <p:nvPr userDrawn="1"/>
        </p:nvSpPr>
        <p:spPr>
          <a:xfrm>
            <a:off x="8661679" y="6400799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/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7" Type="http://schemas.openxmlformats.org/officeDocument/2006/relationships/image" Target="../media/image24.pd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10" Type="http://schemas.openxmlformats.org/officeDocument/2006/relationships/image" Target="../media/image11.png"/><Relationship Id="rId9" Type="http://schemas.openxmlformats.org/officeDocument/2006/relationships/image" Target="../media/image26.pdf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0" y="1249680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3200" dirty="0">
                <a:solidFill>
                  <a:srgbClr val="011893"/>
                </a:solidFill>
              </a:rPr>
              <a:t>論文紹介</a:t>
            </a:r>
            <a:r>
              <a:rPr lang="ja-JP" altLang="en-US" sz="3200">
                <a:solidFill>
                  <a:srgbClr val="011893"/>
                </a:solidFill>
              </a:rPr>
              <a:t>のやり方</a:t>
            </a:r>
            <a:endParaRPr lang="en-US" altLang="ja-JP" sz="3200" dirty="0">
              <a:solidFill>
                <a:srgbClr val="011893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91C33B1-D329-9348-9718-97E836138DF6}"/>
              </a:ext>
            </a:extLst>
          </p:cNvPr>
          <p:cNvSpPr txBox="1"/>
          <p:nvPr/>
        </p:nvSpPr>
        <p:spPr>
          <a:xfrm>
            <a:off x="3627120" y="5242560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慶應義塾大学理工学部物理情報工学科</a:t>
            </a:r>
            <a:endParaRPr lang="en-US" altLang="ja-JP" sz="24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F5EEEB6-32A6-914E-957E-5C31A877EF9C}"/>
              </a:ext>
            </a:extLst>
          </p:cNvPr>
          <p:cNvSpPr txBox="1"/>
          <p:nvPr/>
        </p:nvSpPr>
        <p:spPr>
          <a:xfrm>
            <a:off x="8172400" y="5661248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渡辺</a:t>
            </a:r>
            <a:endParaRPr lang="en-US" altLang="ja-JP" sz="2400"/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注意</a:t>
            </a:r>
            <a:endParaRPr kumimoji="1" lang="ja-JP" altLang="en-US" dirty="0"/>
          </a:p>
        </p:txBody>
      </p:sp>
      <p:pic>
        <p:nvPicPr>
          <p:cNvPr id="1026" name="Picture 2" descr="https://3.bp.blogspot.com/-M9yYEVcfb7g/WXcRHLUYsyI/AAAAAAABFqI/cf1a4bHaakM7RZs1VfLbHMw_B0YcblU7QCLcBGAs/s800/job_kouji_stop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5856" y="3068960"/>
            <a:ext cx="2449712" cy="3456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テキスト ボックス 10"/>
          <p:cNvSpPr txBox="1"/>
          <p:nvPr/>
        </p:nvSpPr>
        <p:spPr>
          <a:xfrm>
            <a:off x="611560" y="1196752"/>
            <a:ext cx="835292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/>
              <a:t>このスライドに書かれている内容は</a:t>
            </a:r>
            <a:endParaRPr lang="en-US" altLang="ja-JP" sz="3200" dirty="0"/>
          </a:p>
          <a:p>
            <a:r>
              <a:rPr lang="ja-JP" altLang="en-US" sz="3200" dirty="0"/>
              <a:t>当研究室の</a:t>
            </a:r>
            <a:r>
              <a:rPr lang="ja-JP" altLang="en-US" sz="3200" dirty="0">
                <a:solidFill>
                  <a:srgbClr val="011893"/>
                </a:solidFill>
              </a:rPr>
              <a:t>ローカルルール</a:t>
            </a:r>
            <a:r>
              <a:rPr lang="ja-JP" altLang="en-US" sz="3200" dirty="0"/>
              <a:t>です</a:t>
            </a:r>
            <a:endParaRPr lang="en-US" altLang="ja-JP" sz="3200" dirty="0"/>
          </a:p>
          <a:p>
            <a:r>
              <a:rPr lang="ja-JP" altLang="en-US" sz="3200" dirty="0"/>
              <a:t>別</a:t>
            </a:r>
            <a:r>
              <a:rPr kumimoji="1" lang="ja-JP" altLang="en-US" sz="3200" dirty="0"/>
              <a:t>の研究室</a:t>
            </a:r>
            <a:r>
              <a:rPr lang="ja-JP" altLang="en-US" sz="3200" dirty="0"/>
              <a:t>に</a:t>
            </a:r>
            <a:r>
              <a:rPr kumimoji="1" lang="ja-JP" altLang="en-US" sz="3200" dirty="0"/>
              <a:t>は別のポリシーがあ</a:t>
            </a:r>
            <a:r>
              <a:rPr lang="ja-JP" altLang="en-US" sz="3200" dirty="0"/>
              <a:t>ります</a:t>
            </a:r>
            <a:endParaRPr kumimoji="1"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236368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論文紹介とは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51520" y="980728"/>
            <a:ext cx="828092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 dirty="0"/>
              <a:t>最近読んだ論文で、</a:t>
            </a:r>
            <a:r>
              <a:rPr lang="ja-JP" altLang="en-US" sz="2800" dirty="0">
                <a:solidFill>
                  <a:srgbClr val="011893"/>
                </a:solidFill>
              </a:rPr>
              <a:t>面白いと思ったもの</a:t>
            </a:r>
            <a:r>
              <a:rPr lang="ja-JP" altLang="en-US" sz="2800" dirty="0"/>
              <a:t>を</a:t>
            </a:r>
            <a:br>
              <a:rPr lang="en-US" altLang="ja-JP" sz="2800" dirty="0">
                <a:solidFill>
                  <a:srgbClr val="011893"/>
                </a:solidFill>
              </a:rPr>
            </a:br>
            <a:r>
              <a:rPr lang="ja-JP" altLang="en-US" sz="2800" dirty="0"/>
              <a:t>研究室の他のメンバーに紹介すること</a:t>
            </a:r>
            <a:endParaRPr lang="en-US" altLang="ja-JP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 dirty="0"/>
              <a:t>論文そのものが最近のものである必要はない</a:t>
            </a:r>
            <a:endParaRPr lang="en-US" altLang="ja-JP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 dirty="0"/>
              <a:t>紹介する論文は原則として一編</a:t>
            </a:r>
            <a:endParaRPr lang="en-US" altLang="ja-JP" sz="28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ja-JP" altLang="en-US" sz="2800" dirty="0"/>
              <a:t>強く関連する論文なら併せて紹介しても良い</a:t>
            </a:r>
            <a:endParaRPr lang="en-US" altLang="ja-JP" sz="2800" dirty="0"/>
          </a:p>
        </p:txBody>
      </p:sp>
      <p:pic>
        <p:nvPicPr>
          <p:cNvPr id="2050" name="Picture 2" descr="うつ伏せで本を読む人のイラスト（男性）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4293096"/>
            <a:ext cx="2396707" cy="2276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会議でプレゼンをする人のイラスト（男性）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4149080"/>
            <a:ext cx="2040161" cy="2184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右矢印 6"/>
          <p:cNvSpPr/>
          <p:nvPr/>
        </p:nvSpPr>
        <p:spPr>
          <a:xfrm>
            <a:off x="3779912" y="5157192"/>
            <a:ext cx="864096" cy="55664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054" name="Picture 6" descr="ビックリマーク・エクスクラメーションマーク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4077072"/>
            <a:ext cx="616147" cy="873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6458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論文紹介の準備</a:t>
            </a: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395536" y="1196752"/>
            <a:ext cx="828092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/>
              <a:t>論文紹介とは「論文をちゃんと読んできた証明」をする場ではない</a:t>
            </a:r>
            <a:endParaRPr lang="en-US" altLang="ja-JP" sz="2800" dirty="0"/>
          </a:p>
          <a:p>
            <a:r>
              <a:rPr lang="ja-JP" altLang="en-US" sz="2800" dirty="0"/>
              <a:t>「</a:t>
            </a:r>
            <a:r>
              <a:rPr lang="ja-JP" altLang="en-US" sz="2800" dirty="0">
                <a:solidFill>
                  <a:srgbClr val="FF0000"/>
                </a:solidFill>
              </a:rPr>
              <a:t>何を話すか</a:t>
            </a:r>
            <a:r>
              <a:rPr lang="ja-JP" altLang="en-US" sz="2800" dirty="0"/>
              <a:t>」より「</a:t>
            </a:r>
            <a:r>
              <a:rPr lang="ja-JP" altLang="en-US" sz="2800" dirty="0">
                <a:solidFill>
                  <a:srgbClr val="FF0000"/>
                </a:solidFill>
              </a:rPr>
              <a:t>何を話さないか</a:t>
            </a:r>
            <a:r>
              <a:rPr lang="ja-JP" altLang="en-US" sz="2800" dirty="0"/>
              <a:t>」が大事</a:t>
            </a:r>
            <a:endParaRPr lang="en-US" altLang="ja-JP" sz="2800" dirty="0"/>
          </a:p>
        </p:txBody>
      </p:sp>
      <p:pic>
        <p:nvPicPr>
          <p:cNvPr id="3074" name="Picture 2" descr="紙飛行機を投げる男の子のイラスト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1800" y="2924944"/>
            <a:ext cx="2952328" cy="269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テキスト ボックス 3"/>
          <p:cNvSpPr txBox="1"/>
          <p:nvPr/>
        </p:nvSpPr>
        <p:spPr>
          <a:xfrm>
            <a:off x="323528" y="5733256"/>
            <a:ext cx="808426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 dirty="0"/>
              <a:t>聴衆は論文を全く読んでないと想定して準備する</a:t>
            </a:r>
          </a:p>
          <a:p>
            <a:r>
              <a:rPr lang="ja-JP" altLang="en-US" sz="2800" dirty="0"/>
              <a:t>話すポイントを</a:t>
            </a:r>
            <a:r>
              <a:rPr lang="ja-JP" altLang="en-US" sz="2800" dirty="0">
                <a:solidFill>
                  <a:srgbClr val="011893"/>
                </a:solidFill>
              </a:rPr>
              <a:t>一つ</a:t>
            </a:r>
            <a:r>
              <a:rPr lang="ja-JP" altLang="en-US" sz="2800" dirty="0"/>
              <a:t>か</a:t>
            </a:r>
            <a:r>
              <a:rPr lang="ja-JP" altLang="en-US" sz="2800" dirty="0">
                <a:solidFill>
                  <a:srgbClr val="011893"/>
                </a:solidFill>
              </a:rPr>
              <a:t>二つ</a:t>
            </a:r>
            <a:r>
              <a:rPr lang="ja-JP" altLang="en-US" sz="2800" dirty="0"/>
              <a:t>に絞って話すこと</a:t>
            </a:r>
            <a:endParaRPr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4240873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質問に答えられなくても気にしない</a:t>
            </a:r>
          </a:p>
        </p:txBody>
      </p:sp>
      <p:pic>
        <p:nvPicPr>
          <p:cNvPr id="4098" name="Picture 2" descr="耳に手を当ている男性のイラスト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9832" y="1268760"/>
            <a:ext cx="2880320" cy="30641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テキスト ボックス 3"/>
          <p:cNvSpPr txBox="1"/>
          <p:nvPr/>
        </p:nvSpPr>
        <p:spPr>
          <a:xfrm>
            <a:off x="323528" y="4653136"/>
            <a:ext cx="864096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 dirty="0"/>
              <a:t>ただし、どんな質問が来たかは覚えておく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ja-JP" altLang="en-US" sz="2800" dirty="0"/>
              <a:t>次からは「どんな質問が来るか」を想定しながら論文を読む</a:t>
            </a:r>
            <a:endParaRPr lang="en-US" altLang="ja-JP" sz="2800" dirty="0"/>
          </a:p>
        </p:txBody>
      </p:sp>
    </p:spTree>
    <p:extLst>
      <p:ext uri="{BB962C8B-B14F-4D97-AF65-F5344CB8AC3E}">
        <p14:creationId xmlns:p14="http://schemas.microsoft.com/office/powerpoint/2010/main" val="77921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スライド</a:t>
            </a:r>
            <a:r>
              <a:rPr lang="ja-JP" altLang="en-US" dirty="0"/>
              <a:t>の構成</a:t>
            </a:r>
            <a:endParaRPr kumimoji="1" lang="ja-JP" altLang="en-US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467544" y="1340768"/>
            <a:ext cx="7366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１０枚あれば十分。２０枚は超えないこと。</a:t>
            </a:r>
            <a:endParaRPr kumimoji="1" lang="en-US" altLang="ja-JP" sz="2800" dirty="0"/>
          </a:p>
        </p:txBody>
      </p:sp>
      <p:sp>
        <p:nvSpPr>
          <p:cNvPr id="4" name="正方形/長方形 3"/>
          <p:cNvSpPr/>
          <p:nvPr/>
        </p:nvSpPr>
        <p:spPr>
          <a:xfrm>
            <a:off x="899592" y="3429000"/>
            <a:ext cx="5616624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ja-JP" altLang="en-US" sz="2800" dirty="0"/>
              <a:t>タイトル</a:t>
            </a:r>
            <a:endParaRPr lang="en-US" altLang="ja-JP" sz="2800" dirty="0"/>
          </a:p>
          <a:p>
            <a:pPr marL="514350" indent="-514350">
              <a:buFont typeface="+mj-lt"/>
              <a:buAutoNum type="arabicPeriod"/>
            </a:pPr>
            <a:r>
              <a:rPr lang="ja-JP" altLang="en-US" sz="2800" dirty="0"/>
              <a:t>研究全体の背景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 sz="2800" dirty="0"/>
              <a:t>問題意識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 sz="2800" dirty="0"/>
              <a:t>論文の目的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 sz="2800" dirty="0"/>
              <a:t>手法の説明 (2～3枚程度)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 sz="2800" dirty="0"/>
              <a:t>結果 (2枚程度)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 sz="2800" dirty="0"/>
              <a:t>まとめと考察</a:t>
            </a: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467544" y="2852936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構成例</a:t>
            </a:r>
          </a:p>
        </p:txBody>
      </p:sp>
    </p:spTree>
    <p:extLst>
      <p:ext uri="{BB962C8B-B14F-4D97-AF65-F5344CB8AC3E}">
        <p14:creationId xmlns:p14="http://schemas.microsoft.com/office/powerpoint/2010/main" val="623226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タイトル</a:t>
            </a:r>
            <a:endParaRPr kumimoji="1" lang="ja-JP" altLang="en-US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323528" y="1196752"/>
            <a:ext cx="80842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論文タイトル、リファレンス</a:t>
            </a:r>
            <a:r>
              <a:rPr lang="ja-JP" altLang="en-US" sz="2800" dirty="0"/>
              <a:t>、</a:t>
            </a:r>
            <a:r>
              <a:rPr lang="ja-JP" altLang="en-US" sz="2800"/>
              <a:t>著者名を</a:t>
            </a:r>
            <a:r>
              <a:rPr lang="ja-JP" altLang="en-US" sz="2800">
                <a:solidFill>
                  <a:srgbClr val="FF0000"/>
                </a:solidFill>
              </a:rPr>
              <a:t>必ず書く</a:t>
            </a:r>
            <a:endParaRPr lang="en-US" altLang="ja-JP" sz="2800" dirty="0">
              <a:solidFill>
                <a:srgbClr val="FF0000"/>
              </a:solidFill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179512" y="2780928"/>
            <a:ext cx="849694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800" dirty="0"/>
              <a:t>Review:  </a:t>
            </a:r>
            <a:r>
              <a:rPr lang="en-US" altLang="ja-JP" sz="2800" dirty="0"/>
              <a:t>“</a:t>
            </a:r>
            <a:r>
              <a:rPr lang="ja-JP" altLang="en-US" sz="2800" dirty="0"/>
              <a:t>Ostwald ripening in multiple-bubble nuclei</a:t>
            </a:r>
            <a:r>
              <a:rPr lang="en-US" altLang="ja-JP" sz="2800" dirty="0"/>
              <a:t>”</a:t>
            </a:r>
            <a:endParaRPr lang="ja-JP" altLang="en-US" sz="2800" dirty="0"/>
          </a:p>
        </p:txBody>
      </p:sp>
      <p:sp>
        <p:nvSpPr>
          <p:cNvPr id="5" name="正方形/長方形 4"/>
          <p:cNvSpPr/>
          <p:nvPr/>
        </p:nvSpPr>
        <p:spPr>
          <a:xfrm>
            <a:off x="1691680" y="3717032"/>
            <a:ext cx="5616624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000" dirty="0"/>
              <a:t>H. Watanabe, M. Suzuki, H. Inaoka, and N. Ito</a:t>
            </a:r>
          </a:p>
          <a:p>
            <a:r>
              <a:rPr lang="ja-JP" altLang="en-US" sz="2000" dirty="0"/>
              <a:t>J. Chem. Phys. </a:t>
            </a:r>
            <a:r>
              <a:rPr lang="ja-JP" altLang="en-US" sz="2000" b="1" dirty="0"/>
              <a:t>141</a:t>
            </a:r>
            <a:r>
              <a:rPr lang="ja-JP" altLang="en-US" sz="2000" dirty="0"/>
              <a:t>, 234703 (2014)</a:t>
            </a:r>
            <a:endParaRPr lang="en-US" altLang="ja-JP" sz="2000" dirty="0"/>
          </a:p>
          <a:p>
            <a:r>
              <a:rPr lang="en-US" altLang="ja-JP" sz="2000" dirty="0"/>
              <a:t>arXiv:1407.0102</a:t>
            </a:r>
            <a:endParaRPr lang="ja-JP" altLang="en-US" sz="2000" dirty="0"/>
          </a:p>
        </p:txBody>
      </p:sp>
      <p:sp>
        <p:nvSpPr>
          <p:cNvPr id="6" name="正方形/長方形 5"/>
          <p:cNvSpPr/>
          <p:nvPr/>
        </p:nvSpPr>
        <p:spPr>
          <a:xfrm>
            <a:off x="2267744" y="5805264"/>
            <a:ext cx="617443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/>
              <a:t>タイトルに「</a:t>
            </a:r>
            <a:r>
              <a:rPr lang="en-US" altLang="ja-JP"/>
              <a:t>Review:</a:t>
            </a:r>
            <a:r>
              <a:rPr lang="ja-JP" altLang="en-US"/>
              <a:t>」等とつけておくと自分の研究と</a:t>
            </a:r>
            <a:endParaRPr lang="en-US" altLang="ja-JP"/>
          </a:p>
          <a:p>
            <a:r>
              <a:rPr lang="ja-JP" altLang="en-US"/>
              <a:t>間違われなくて良いかも</a:t>
            </a:r>
            <a:endParaRPr lang="ja-JP" altLang="en-US" dirty="0"/>
          </a:p>
        </p:txBody>
      </p:sp>
      <p:sp>
        <p:nvSpPr>
          <p:cNvPr id="7" name="テキスト ボックス 6"/>
          <p:cNvSpPr txBox="1"/>
          <p:nvPr/>
        </p:nvSpPr>
        <p:spPr>
          <a:xfrm>
            <a:off x="673132" y="1844824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引用の無い記述は「自分の研究・意見・結果」とみなされる</a:t>
            </a:r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3929743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論文リファレンスについて</a:t>
            </a:r>
            <a:endParaRPr kumimoji="1" lang="ja-JP" altLang="en-US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251520" y="1057960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出版された査読論文は以下</a:t>
            </a:r>
            <a:r>
              <a:rPr lang="ja-JP" altLang="en-US" sz="2400" dirty="0"/>
              <a:t>の</a:t>
            </a:r>
            <a:r>
              <a:rPr kumimoji="1" lang="ja-JP" altLang="en-US" sz="2400" dirty="0"/>
              <a:t>情報で指定できる</a:t>
            </a:r>
            <a:endParaRPr kumimoji="1" lang="en-US" altLang="ja-JP" sz="2400" dirty="0"/>
          </a:p>
        </p:txBody>
      </p:sp>
      <p:sp>
        <p:nvSpPr>
          <p:cNvPr id="5" name="正方形/長方形 4"/>
          <p:cNvSpPr/>
          <p:nvPr/>
        </p:nvSpPr>
        <p:spPr>
          <a:xfrm>
            <a:off x="1187624" y="4365104"/>
            <a:ext cx="649652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3600" dirty="0"/>
              <a:t>J. Chem. Phys. </a:t>
            </a:r>
            <a:r>
              <a:rPr lang="ja-JP" altLang="en-US" sz="3600" b="1" dirty="0"/>
              <a:t>141</a:t>
            </a:r>
            <a:r>
              <a:rPr lang="ja-JP" altLang="en-US" sz="3600" dirty="0"/>
              <a:t>, 234703 (2014)</a:t>
            </a:r>
            <a:endParaRPr lang="en-US" altLang="ja-JP" sz="3600" dirty="0"/>
          </a:p>
        </p:txBody>
      </p:sp>
      <p:cxnSp>
        <p:nvCxnSpPr>
          <p:cNvPr id="7" name="直線コネクタ 6"/>
          <p:cNvCxnSpPr/>
          <p:nvPr/>
        </p:nvCxnSpPr>
        <p:spPr>
          <a:xfrm flipH="1">
            <a:off x="1259632" y="4941168"/>
            <a:ext cx="3096344" cy="0"/>
          </a:xfrm>
          <a:prstGeom prst="line">
            <a:avLst/>
          </a:prstGeom>
          <a:ln w="57150">
            <a:solidFill>
              <a:srgbClr val="FFC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/>
          <p:cNvSpPr txBox="1"/>
          <p:nvPr/>
        </p:nvSpPr>
        <p:spPr>
          <a:xfrm>
            <a:off x="395536" y="1700808"/>
            <a:ext cx="838562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ジャーナル名：</a:t>
            </a:r>
            <a:r>
              <a:rPr lang="en-US" altLang="ja-JP" sz="2400" dirty="0"/>
              <a:t>Journal of Chemical Physics</a:t>
            </a:r>
            <a:r>
              <a:rPr lang="ja-JP" altLang="en-US" sz="2400" dirty="0"/>
              <a:t>の略</a:t>
            </a:r>
            <a:endParaRPr lang="en-US" altLang="ja-JP" sz="2400" dirty="0"/>
          </a:p>
          <a:p>
            <a:r>
              <a:rPr lang="ja-JP" altLang="en-US" sz="2400" dirty="0"/>
              <a:t>　　　　　　　</a:t>
            </a:r>
            <a:r>
              <a:rPr lang="en-US" altLang="ja-JP" sz="2400" dirty="0"/>
              <a:t>(</a:t>
            </a:r>
            <a:r>
              <a:rPr lang="ja-JP" altLang="en-US" sz="2400" dirty="0"/>
              <a:t>省略の仕方は決まっているので調べること</a:t>
            </a:r>
            <a:r>
              <a:rPr lang="en-US" altLang="ja-JP" sz="2400" dirty="0"/>
              <a:t>)</a:t>
            </a:r>
          </a:p>
          <a:p>
            <a:r>
              <a:rPr lang="ja-JP" altLang="en-US" sz="2400" dirty="0"/>
              <a:t>ボリューム：太字にするか、</a:t>
            </a:r>
            <a:r>
              <a:rPr lang="en-US" altLang="ja-JP" sz="2400" dirty="0"/>
              <a:t>Vol. 141</a:t>
            </a:r>
            <a:r>
              <a:rPr lang="ja-JP" altLang="en-US" sz="2400" dirty="0"/>
              <a:t>などと表記する</a:t>
            </a:r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最初のページ番号：</a:t>
            </a:r>
            <a:r>
              <a:rPr kumimoji="1" lang="en-US" altLang="ja-JP" sz="2400" dirty="0"/>
              <a:t>p. </a:t>
            </a:r>
            <a:r>
              <a:rPr lang="en-US" altLang="ja-JP" sz="2400" dirty="0"/>
              <a:t>234703</a:t>
            </a:r>
            <a:r>
              <a:rPr lang="ja-JP" altLang="en-US" sz="2400" dirty="0"/>
              <a:t>と表記することも</a:t>
            </a:r>
            <a:endParaRPr kumimoji="1" lang="en-US" altLang="ja-JP" sz="2400" dirty="0"/>
          </a:p>
          <a:p>
            <a:r>
              <a:rPr kumimoji="1" lang="ja-JP" altLang="en-US" sz="2400" dirty="0"/>
              <a:t>　　　　　　　　　論文番号になっている場合もある</a:t>
            </a:r>
          </a:p>
        </p:txBody>
      </p:sp>
      <p:cxnSp>
        <p:nvCxnSpPr>
          <p:cNvPr id="9" name="直線コネクタ 8"/>
          <p:cNvCxnSpPr/>
          <p:nvPr/>
        </p:nvCxnSpPr>
        <p:spPr>
          <a:xfrm flipH="1">
            <a:off x="4499992" y="4941168"/>
            <a:ext cx="720080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/>
          <p:cNvCxnSpPr/>
          <p:nvPr/>
        </p:nvCxnSpPr>
        <p:spPr>
          <a:xfrm flipH="1">
            <a:off x="467544" y="2132856"/>
            <a:ext cx="1800200" cy="0"/>
          </a:xfrm>
          <a:prstGeom prst="line">
            <a:avLst/>
          </a:prstGeom>
          <a:ln w="57150">
            <a:solidFill>
              <a:srgbClr val="FFC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/>
          <p:cNvCxnSpPr/>
          <p:nvPr/>
        </p:nvCxnSpPr>
        <p:spPr>
          <a:xfrm flipH="1">
            <a:off x="467544" y="2852936"/>
            <a:ext cx="1584176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/>
          <p:cNvSpPr txBox="1"/>
          <p:nvPr/>
        </p:nvSpPr>
        <p:spPr>
          <a:xfrm>
            <a:off x="6881842" y="119675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会議録などを除く</a:t>
            </a:r>
          </a:p>
        </p:txBody>
      </p:sp>
      <p:cxnSp>
        <p:nvCxnSpPr>
          <p:cNvPr id="17" name="直線コネクタ 16"/>
          <p:cNvCxnSpPr/>
          <p:nvPr/>
        </p:nvCxnSpPr>
        <p:spPr>
          <a:xfrm flipH="1">
            <a:off x="5508104" y="4941168"/>
            <a:ext cx="1512168" cy="0"/>
          </a:xfrm>
          <a:prstGeom prst="line">
            <a:avLst/>
          </a:prstGeom>
          <a:ln w="57150">
            <a:solidFill>
              <a:srgbClr val="01189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/>
          <p:cNvCxnSpPr/>
          <p:nvPr/>
        </p:nvCxnSpPr>
        <p:spPr>
          <a:xfrm flipH="1">
            <a:off x="467544" y="3573016"/>
            <a:ext cx="2520280" cy="0"/>
          </a:xfrm>
          <a:prstGeom prst="line">
            <a:avLst/>
          </a:prstGeom>
          <a:ln w="57150">
            <a:solidFill>
              <a:srgbClr val="011893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正方形/長方形 3"/>
          <p:cNvSpPr/>
          <p:nvPr/>
        </p:nvSpPr>
        <p:spPr>
          <a:xfrm>
            <a:off x="539552" y="5805264"/>
            <a:ext cx="648072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/>
              <a:t>上記三つで一意に決まるが、出版年もつける</a:t>
            </a:r>
          </a:p>
        </p:txBody>
      </p:sp>
      <p:sp>
        <p:nvSpPr>
          <p:cNvPr id="19" name="楕円 18"/>
          <p:cNvSpPr/>
          <p:nvPr/>
        </p:nvSpPr>
        <p:spPr>
          <a:xfrm>
            <a:off x="6804248" y="4869160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2" name="カギ線コネクタ 21"/>
          <p:cNvCxnSpPr>
            <a:stCxn id="4" idx="3"/>
          </p:cNvCxnSpPr>
          <p:nvPr/>
        </p:nvCxnSpPr>
        <p:spPr>
          <a:xfrm flipV="1">
            <a:off x="7020272" y="5013176"/>
            <a:ext cx="720080" cy="1022921"/>
          </a:xfrm>
          <a:prstGeom prst="bentConnector2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9375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スライドの作り方</a:t>
            </a: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341590" y="1268760"/>
            <a:ext cx="88024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原則として「スライド一枚にメッセージ一つ」</a:t>
            </a:r>
          </a:p>
        </p:txBody>
      </p:sp>
      <p:pic>
        <p:nvPicPr>
          <p:cNvPr id="5122" name="Picture 2" descr="部屋を片付けられない男性のイラスト「散らかった部屋」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1800" y="1988840"/>
            <a:ext cx="3240360" cy="3240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テキスト ボックス 3"/>
          <p:cNvSpPr txBox="1"/>
          <p:nvPr/>
        </p:nvSpPr>
        <p:spPr>
          <a:xfrm>
            <a:off x="251520" y="5661248"/>
            <a:ext cx="86581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dirty="0"/>
              <a:t>スライドに情報</a:t>
            </a:r>
            <a:r>
              <a:rPr lang="en-US" altLang="ja-JP" sz="3200" dirty="0"/>
              <a:t>(</a:t>
            </a:r>
            <a:r>
              <a:rPr lang="ja-JP" altLang="en-US" sz="3200" dirty="0"/>
              <a:t>特に文章</a:t>
            </a:r>
            <a:r>
              <a:rPr lang="en-US" altLang="ja-JP" sz="3200" dirty="0"/>
              <a:t>)</a:t>
            </a:r>
            <a:r>
              <a:rPr lang="ja-JP" altLang="en-US" sz="3200" dirty="0"/>
              <a:t>を詰め込みすぎない</a:t>
            </a:r>
            <a:endParaRPr kumimoji="1"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5709632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グラフの入れ方</a:t>
            </a:r>
            <a:endParaRPr kumimoji="1" lang="ja-JP" altLang="en-US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827584" y="1124744"/>
            <a:ext cx="71609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dirty="0"/>
              <a:t>原則としてスライド一枚にグラフ一つ</a:t>
            </a:r>
            <a:endParaRPr kumimoji="1" lang="ja-JP" altLang="en-US" sz="32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F7D55A3-83C4-BA48-A8A5-50B46A449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1844824"/>
            <a:ext cx="5349166" cy="3744416"/>
          </a:xfrm>
          <a:prstGeom prst="rect">
            <a:avLst/>
          </a:prstGeom>
        </p:spPr>
      </p:pic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F2021AF-CA24-6046-BC5A-75765EFBCA2E}"/>
              </a:ext>
            </a:extLst>
          </p:cNvPr>
          <p:cNvCxnSpPr>
            <a:cxnSpLocks/>
          </p:cNvCxnSpPr>
          <p:nvPr/>
        </p:nvCxnSpPr>
        <p:spPr>
          <a:xfrm>
            <a:off x="3131840" y="2708920"/>
            <a:ext cx="2736304" cy="2232248"/>
          </a:xfrm>
          <a:prstGeom prst="straightConnector1">
            <a:avLst/>
          </a:prstGeom>
          <a:ln w="38100">
            <a:solidFill>
              <a:srgbClr val="FF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正方形/長方形 7"/>
          <p:cNvSpPr/>
          <p:nvPr/>
        </p:nvSpPr>
        <p:spPr>
          <a:xfrm>
            <a:off x="5580112" y="2420888"/>
            <a:ext cx="1872208" cy="50405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Lower is better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987824" y="4077072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14</a:t>
            </a:r>
            <a:r>
              <a:rPr kumimoji="1" lang="ja-JP" altLang="en-US" sz="2400" dirty="0"/>
              <a:t>倍に高速化</a:t>
            </a: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179512" y="5805265"/>
            <a:ext cx="85689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solidFill>
                  <a:srgbClr val="011893"/>
                </a:solidFill>
              </a:rPr>
              <a:t>グラフを見てわかって欲しいこと</a:t>
            </a:r>
            <a:r>
              <a:rPr lang="ja-JP" altLang="en-US" sz="2400" dirty="0"/>
              <a:t>を</a:t>
            </a:r>
            <a:r>
              <a:rPr lang="en-US" altLang="ja-JP" sz="2400" dirty="0"/>
              <a:t>(</a:t>
            </a:r>
            <a:r>
              <a:rPr lang="ja-JP" altLang="en-US" sz="2400" dirty="0"/>
              <a:t>口頭で説明するだけではなく</a:t>
            </a:r>
            <a:r>
              <a:rPr lang="en-US" altLang="ja-JP" sz="2400" dirty="0"/>
              <a:t>)</a:t>
            </a:r>
            <a:r>
              <a:rPr lang="ja-JP" altLang="en-US" sz="2400" dirty="0"/>
              <a:t>グラフにも書いておくと良い</a:t>
            </a:r>
            <a:endParaRPr kumimoji="1" lang="en-US" altLang="ja-JP" sz="2400" dirty="0"/>
          </a:p>
        </p:txBody>
      </p:sp>
      <p:sp>
        <p:nvSpPr>
          <p:cNvPr id="3" name="正方形/長方形 2"/>
          <p:cNvSpPr/>
          <p:nvPr/>
        </p:nvSpPr>
        <p:spPr>
          <a:xfrm>
            <a:off x="2987824" y="5445224"/>
            <a:ext cx="597666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dirty="0"/>
              <a:t>H. Watanabe, et al. J. Phys. Soc. Jpn</a:t>
            </a:r>
            <a:r>
              <a:rPr lang="ja-JP" altLang="en-US" dirty="0" err="1"/>
              <a:t>.,</a:t>
            </a:r>
            <a:r>
              <a:rPr lang="ja-JP" altLang="en-US" dirty="0"/>
              <a:t> 88, 10244 (2019)</a:t>
            </a:r>
          </a:p>
        </p:txBody>
      </p:sp>
    </p:spTree>
    <p:extLst>
      <p:ext uri="{BB962C8B-B14F-4D97-AF65-F5344CB8AC3E}">
        <p14:creationId xmlns:p14="http://schemas.microsoft.com/office/powerpoint/2010/main" val="515372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グラフの入れ方</a:t>
            </a:r>
            <a:endParaRPr kumimoji="1" lang="ja-JP" altLang="en-US" dirty="0"/>
          </a:p>
        </p:txBody>
      </p:sp>
      <p:pic>
        <p:nvPicPr>
          <p:cNvPr id="3" name="図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29" y="2843644"/>
            <a:ext cx="8368497" cy="3096344"/>
          </a:xfrm>
          <a:prstGeom prst="rect">
            <a:avLst/>
          </a:prstGeom>
        </p:spPr>
      </p:pic>
      <p:sp>
        <p:nvSpPr>
          <p:cNvPr id="4" name="テキスト ボックス 3"/>
          <p:cNvSpPr txBox="1"/>
          <p:nvPr/>
        </p:nvSpPr>
        <p:spPr>
          <a:xfrm>
            <a:off x="1043608" y="2555612"/>
            <a:ext cx="346120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累積分布関数</a:t>
            </a:r>
            <a:r>
              <a:rPr lang="en-US" altLang="ja-JP" sz="2400" dirty="0"/>
              <a:t>(</a:t>
            </a:r>
            <a:r>
              <a:rPr lang="ja-JP" altLang="en-US" sz="2400" dirty="0"/>
              <a:t>生データ</a:t>
            </a:r>
            <a:r>
              <a:rPr lang="en-US" altLang="ja-JP" sz="2400" dirty="0"/>
              <a:t>)</a:t>
            </a:r>
            <a:endParaRPr kumimoji="1" lang="ja-JP" altLang="en-US" sz="2400" dirty="0"/>
          </a:p>
        </p:txBody>
      </p:sp>
      <p:sp>
        <p:nvSpPr>
          <p:cNvPr id="5" name="テキスト ボックス 4"/>
          <p:cNvSpPr txBox="1"/>
          <p:nvPr/>
        </p:nvSpPr>
        <p:spPr>
          <a:xfrm>
            <a:off x="5061095" y="2549085"/>
            <a:ext cx="3461204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累積分布関数</a:t>
            </a:r>
            <a:r>
              <a:rPr lang="en-US" altLang="ja-JP" sz="2400" dirty="0"/>
              <a:t>(</a:t>
            </a:r>
            <a:r>
              <a:rPr lang="ja-JP" altLang="en-US" sz="2400" dirty="0"/>
              <a:t>スケール</a:t>
            </a:r>
            <a:r>
              <a:rPr lang="en-US" altLang="ja-JP" sz="2400" dirty="0"/>
              <a:t>)</a:t>
            </a:r>
            <a:endParaRPr kumimoji="1" lang="ja-JP" altLang="en-US" sz="2400" dirty="0"/>
          </a:p>
        </p:txBody>
      </p:sp>
      <p:pic>
        <p:nvPicPr>
          <p:cNvPr id="6" name="図 5" descr="latex-image-1.pdf"/>
          <p:cNvPicPr>
            <a:picLocks noChangeAspect="1"/>
          </p:cNvPicPr>
          <p:nvPr/>
        </p:nvPicPr>
        <mc:AlternateContent xmlns:mc="http://schemas.openxmlformats.org/markup-compatibility/2006">
          <mc:Choice xmlns:ma="http://schemas.microsoft.com/office/mac/drawingml/2008/main" xmlns:mv="urn:schemas-microsoft-com:mac:vml" xmlns="" Requires="ma">
            <p:blipFill>
              <a:blip r:embed="rId7"/>
              <a:stretch>
                <a:fillRect/>
              </a:stretch>
            </p:blipFill>
          </mc:Choice>
          <mc:Fallback>
            <p:blipFill>
              <a:blip r:embed="rId8"/>
              <a:stretch>
                <a:fillRect/>
              </a:stretch>
            </p:blipFill>
          </mc:Fallback>
        </mc:AlternateContent>
        <p:spPr>
          <a:xfrm>
            <a:off x="6373812" y="3347700"/>
            <a:ext cx="2806700" cy="546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pic>
        <p:nvPicPr>
          <p:cNvPr id="7" name="図 6" descr="latex-image-1.pdf"/>
          <p:cNvPicPr>
            <a:picLocks noChangeAspect="1"/>
          </p:cNvPicPr>
          <p:nvPr/>
        </p:nvPicPr>
        <mc:AlternateContent xmlns:mc="http://schemas.openxmlformats.org/markup-compatibility/2006">
          <mc:Choice xmlns:ma="http://schemas.microsoft.com/office/mac/drawingml/2008/main" xmlns:mv="urn:schemas-microsoft-com:mac:vml" xmlns="" Requires="ma">
            <p:blipFill>
              <a:blip r:embed="rId9"/>
              <a:stretch>
                <a:fillRect/>
              </a:stretch>
            </p:blipFill>
          </mc:Choice>
          <mc:Fallback>
            <p:blipFill>
              <a:blip r:embed="rId10"/>
              <a:stretch>
                <a:fillRect/>
              </a:stretch>
            </p:blipFill>
          </mc:Fallback>
        </mc:AlternateContent>
        <p:spPr>
          <a:xfrm>
            <a:off x="6163351" y="5604441"/>
            <a:ext cx="1701800" cy="34290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0" name="テキスト ボックス 9"/>
          <p:cNvSpPr txBox="1"/>
          <p:nvPr/>
        </p:nvSpPr>
        <p:spPr>
          <a:xfrm>
            <a:off x="2156729" y="5579948"/>
            <a:ext cx="110799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ja-JP" altLang="en-US" dirty="0"/>
              <a:t>気泡体積</a:t>
            </a:r>
            <a:endParaRPr kumimoji="1" lang="ja-JP" altLang="en-US" dirty="0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939457" y="1052736"/>
            <a:ext cx="71609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dirty="0"/>
              <a:t>比較させたい時には二つ入れても良い</a:t>
            </a:r>
            <a:endParaRPr kumimoji="1" lang="ja-JP" altLang="en-US" sz="3200" dirty="0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395536" y="1700808"/>
            <a:ext cx="82089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/>
              <a:t>以下の例では、生データはバラバラだが、スケールすると一本の線に乗ることを</a:t>
            </a:r>
            <a:r>
              <a:rPr kumimoji="1" lang="ja-JP" altLang="en-US" sz="2400" dirty="0"/>
              <a:t>示したい</a:t>
            </a:r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123728" y="5949280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これが</a:t>
            </a: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6156176" y="5958572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こうなる</a:t>
            </a:r>
            <a:endParaRPr kumimoji="1" lang="ja-JP" altLang="en-US" sz="2400" dirty="0"/>
          </a:p>
        </p:txBody>
      </p:sp>
      <p:sp>
        <p:nvSpPr>
          <p:cNvPr id="9" name="右矢印 8"/>
          <p:cNvSpPr/>
          <p:nvPr/>
        </p:nvSpPr>
        <p:spPr>
          <a:xfrm>
            <a:off x="4355976" y="5988189"/>
            <a:ext cx="720080" cy="412624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/>
          <p:cNvSpPr/>
          <p:nvPr/>
        </p:nvSpPr>
        <p:spPr>
          <a:xfrm>
            <a:off x="107504" y="6453336"/>
            <a:ext cx="54006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dirty="0"/>
              <a:t>H. Watanabe, et al. Phys. Rev. E, </a:t>
            </a:r>
            <a:r>
              <a:rPr lang="ja-JP" altLang="en-US" b="1" dirty="0"/>
              <a:t>82</a:t>
            </a:r>
            <a:r>
              <a:rPr lang="ja-JP" altLang="en-US" dirty="0"/>
              <a:t>, 21380 (2010)</a:t>
            </a:r>
          </a:p>
        </p:txBody>
      </p:sp>
    </p:spTree>
    <p:extLst>
      <p:ext uri="{BB962C8B-B14F-4D97-AF65-F5344CB8AC3E}">
        <p14:creationId xmlns:p14="http://schemas.microsoft.com/office/powerpoint/2010/main" val="39737037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発表はゆっくりと</a:t>
            </a:r>
            <a:endParaRPr kumimoji="1" lang="ja-JP" altLang="en-US" dirty="0"/>
          </a:p>
        </p:txBody>
      </p:sp>
      <p:pic>
        <p:nvPicPr>
          <p:cNvPr id="6146" name="Picture 2" descr="ウグイス嬢のイラスト（スポーツ）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7864" y="1916832"/>
            <a:ext cx="2550354" cy="3377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1763688" y="1196752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>
                <a:solidFill>
                  <a:srgbClr val="FF0000"/>
                </a:solidFill>
              </a:rPr>
              <a:t>スライド一枚</a:t>
            </a:r>
            <a:r>
              <a:rPr lang="ja-JP" altLang="en-US" sz="3200" dirty="0">
                <a:solidFill>
                  <a:srgbClr val="FF0000"/>
                </a:solidFill>
              </a:rPr>
              <a:t>を</a:t>
            </a:r>
            <a:r>
              <a:rPr kumimoji="1" lang="ja-JP" altLang="en-US" sz="3200" dirty="0">
                <a:solidFill>
                  <a:srgbClr val="FF0000"/>
                </a:solidFill>
              </a:rPr>
              <a:t>一分</a:t>
            </a:r>
            <a:r>
              <a:rPr kumimoji="1" lang="ja-JP" altLang="en-US" sz="3200" dirty="0"/>
              <a:t>が目安</a:t>
            </a: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323528" y="5517232"/>
            <a:ext cx="808426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 dirty="0"/>
              <a:t>原稿を用意しても良いが、本番では読み上げない</a:t>
            </a:r>
            <a:endParaRPr lang="en-US" altLang="ja-JP" sz="2800" dirty="0"/>
          </a:p>
          <a:p>
            <a:r>
              <a:rPr kumimoji="1" lang="ja-JP" altLang="en-US" sz="2800" dirty="0"/>
              <a:t>時間を計って練習すると良い</a:t>
            </a:r>
          </a:p>
        </p:txBody>
      </p:sp>
    </p:spTree>
    <p:extLst>
      <p:ext uri="{BB962C8B-B14F-4D97-AF65-F5344CB8AC3E}">
        <p14:creationId xmlns:p14="http://schemas.microsoft.com/office/powerpoint/2010/main" val="38616271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F7EF3806-5FF2-AD25-2FD7-633A682FB7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AI</a:t>
            </a:r>
            <a:r>
              <a:rPr kumimoji="1" lang="ja-JP" altLang="en-US"/>
              <a:t>との付き合い方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D2403B0-4B9D-AA66-AD82-7792E236D5DB}"/>
              </a:ext>
            </a:extLst>
          </p:cNvPr>
          <p:cNvSpPr txBox="1"/>
          <p:nvPr/>
        </p:nvSpPr>
        <p:spPr>
          <a:xfrm>
            <a:off x="107504" y="848066"/>
            <a:ext cx="2807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AI</a:t>
            </a:r>
            <a:r>
              <a:rPr lang="ja-JP" altLang="en-US" sz="3200"/>
              <a:t>の</a:t>
            </a:r>
            <a:r>
              <a:rPr kumimoji="1" lang="ja-JP" altLang="en-US" sz="3200">
                <a:solidFill>
                  <a:srgbClr val="011893"/>
                </a:solidFill>
              </a:rPr>
              <a:t>活用</a:t>
            </a:r>
            <a:r>
              <a:rPr kumimoji="1" lang="ja-JP" altLang="en-US" sz="3200"/>
              <a:t>は</a:t>
            </a:r>
            <a:r>
              <a:rPr kumimoji="1" lang="en-US" altLang="ja-JP" sz="3200" dirty="0"/>
              <a:t>OK</a:t>
            </a:r>
            <a:endParaRPr kumimoji="1" lang="ja-JP" altLang="en-US" sz="320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8F92C99-6811-9425-66FC-97833CB714AE}"/>
              </a:ext>
            </a:extLst>
          </p:cNvPr>
          <p:cNvSpPr txBox="1"/>
          <p:nvPr/>
        </p:nvSpPr>
        <p:spPr>
          <a:xfrm>
            <a:off x="520869" y="1361841"/>
            <a:ext cx="42242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/>
              <a:t>英語を和訳させる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/>
              <a:t>論文の要約を報告させる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/>
              <a:t>知らない単語を説明させる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ja-JP" altLang="en-US" sz="2400"/>
              <a:t>重要な先行研究を探させる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DA89996-2AAA-6332-A160-56DD189346F8}"/>
              </a:ext>
            </a:extLst>
          </p:cNvPr>
          <p:cNvSpPr txBox="1"/>
          <p:nvPr/>
        </p:nvSpPr>
        <p:spPr>
          <a:xfrm>
            <a:off x="179512" y="2999182"/>
            <a:ext cx="40607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dirty="0"/>
              <a:t>AI</a:t>
            </a:r>
            <a:r>
              <a:rPr lang="ja-JP" altLang="en-US" sz="3200"/>
              <a:t>による</a:t>
            </a:r>
            <a:r>
              <a:rPr lang="ja-JP" altLang="en-US" sz="3200">
                <a:solidFill>
                  <a:srgbClr val="011893"/>
                </a:solidFill>
              </a:rPr>
              <a:t>手抜き</a:t>
            </a:r>
            <a:r>
              <a:rPr lang="ja-JP" altLang="en-US" sz="3200"/>
              <a:t>は</a:t>
            </a:r>
            <a:r>
              <a:rPr lang="en-US" altLang="ja-JP" sz="3200" dirty="0"/>
              <a:t>NG</a:t>
            </a:r>
            <a:endParaRPr kumimoji="1" lang="ja-JP" altLang="en-US" sz="32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EA9199F-86F2-6CA4-556F-FCFE26B28D9A}"/>
              </a:ext>
            </a:extLst>
          </p:cNvPr>
          <p:cNvSpPr txBox="1"/>
          <p:nvPr/>
        </p:nvSpPr>
        <p:spPr>
          <a:xfrm>
            <a:off x="520869" y="3618687"/>
            <a:ext cx="796884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AI</a:t>
            </a:r>
            <a:r>
              <a:rPr kumimoji="1" lang="ja-JP" altLang="en-US" sz="2400"/>
              <a:t>に和訳させて自分は英語を全く読まない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2400" dirty="0"/>
              <a:t>AI</a:t>
            </a:r>
            <a:r>
              <a:rPr lang="ja-JP" altLang="en-US" sz="2400"/>
              <a:t>が提案した内容の裏を取らない</a:t>
            </a:r>
            <a:endParaRPr kumimoji="1" lang="en-US" altLang="ja-JP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rgbClr val="FF0000"/>
                </a:solidFill>
              </a:rPr>
              <a:t>質問されても「</a:t>
            </a:r>
            <a:r>
              <a:rPr lang="en-US" altLang="ja-JP" sz="2400" dirty="0">
                <a:solidFill>
                  <a:srgbClr val="FF0000"/>
                </a:solidFill>
              </a:rPr>
              <a:t>ChatGPT</a:t>
            </a:r>
            <a:r>
              <a:rPr lang="ja-JP" altLang="en-US" sz="2400">
                <a:solidFill>
                  <a:srgbClr val="FF0000"/>
                </a:solidFill>
              </a:rPr>
              <a:t>がそう言ったので」と答える</a:t>
            </a:r>
            <a:endParaRPr kumimoji="1" lang="ja-JP" altLang="en-US" sz="2400">
              <a:solidFill>
                <a:srgbClr val="FF0000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97441C6-EF1D-FC14-98A5-6CC41F850695}"/>
              </a:ext>
            </a:extLst>
          </p:cNvPr>
          <p:cNvSpPr txBox="1"/>
          <p:nvPr/>
        </p:nvSpPr>
        <p:spPr>
          <a:xfrm>
            <a:off x="115149" y="5013176"/>
            <a:ext cx="891370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/>
              <a:t>大学、大学院における最も重要な知的活動は「文章を読む力」「文章を書く力」を鍛えること</a:t>
            </a:r>
            <a:endParaRPr kumimoji="1" lang="en-US" altLang="ja-JP" sz="2800" dirty="0"/>
          </a:p>
          <a:p>
            <a:r>
              <a:rPr lang="ja-JP" altLang="en-US" sz="2800"/>
              <a:t>そこを手抜きしてしまうと研究室活動の価値が消える</a:t>
            </a:r>
            <a:endParaRPr kumimoji="1" lang="ja-JP" altLang="en-US" sz="2800"/>
          </a:p>
        </p:txBody>
      </p:sp>
      <p:pic>
        <p:nvPicPr>
          <p:cNvPr id="1030" name="Picture 6" descr="コンピューターを使うロボットのイラスト">
            <a:extLst>
              <a:ext uri="{FF2B5EF4-FFF2-40B4-BE49-F238E27FC236}">
                <a16:creationId xmlns:a16="http://schemas.microsoft.com/office/drawing/2014/main" id="{BEC9D9F4-B016-C47D-702C-1C692ABB53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795291" y="1432841"/>
            <a:ext cx="1475650" cy="1394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音楽を聴きながら仕事をする人のイラスト（男性）">
            <a:extLst>
              <a:ext uri="{FF2B5EF4-FFF2-40B4-BE49-F238E27FC236}">
                <a16:creationId xmlns:a16="http://schemas.microsoft.com/office/drawing/2014/main" id="{85B6B1A5-FC35-0AF6-6276-1CFF551749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3763" y="1359765"/>
            <a:ext cx="1603896" cy="14675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75417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まとめ</a:t>
            </a:r>
            <a:endParaRPr kumimoji="1" lang="ja-JP" altLang="en-US" dirty="0"/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79512" y="1268760"/>
            <a:ext cx="839204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dirty="0"/>
              <a:t>自分が感じた「面白さ」が伝わるようにする</a:t>
            </a:r>
            <a:endParaRPr kumimoji="1" lang="en-US" altLang="ja-JP" sz="3200" dirty="0"/>
          </a:p>
          <a:p>
            <a:r>
              <a:rPr kumimoji="1" lang="ja-JP" altLang="en-US" sz="3200" dirty="0"/>
              <a:t>情報を詰め込みすぎない</a:t>
            </a:r>
            <a:endParaRPr kumimoji="1" lang="en-US" altLang="ja-JP" sz="3200" dirty="0"/>
          </a:p>
          <a:p>
            <a:r>
              <a:rPr lang="ja-JP" altLang="en-US" sz="3200" dirty="0"/>
              <a:t>→「</a:t>
            </a:r>
            <a:r>
              <a:rPr lang="ja-JP" altLang="en-US" sz="3200" dirty="0">
                <a:solidFill>
                  <a:srgbClr val="FF0000"/>
                </a:solidFill>
              </a:rPr>
              <a:t>何を話さないか</a:t>
            </a:r>
            <a:r>
              <a:rPr lang="ja-JP" altLang="en-US" sz="3200" dirty="0"/>
              <a:t>」が大事</a:t>
            </a:r>
            <a:endParaRPr lang="en-US" altLang="ja-JP" sz="3200" dirty="0"/>
          </a:p>
        </p:txBody>
      </p:sp>
      <p:sp>
        <p:nvSpPr>
          <p:cNvPr id="4" name="正方形/長方形 3"/>
          <p:cNvSpPr/>
          <p:nvPr/>
        </p:nvSpPr>
        <p:spPr>
          <a:xfrm>
            <a:off x="683568" y="3284984"/>
            <a:ext cx="684076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sz="3600" dirty="0"/>
              <a:t>Tell the truth, nothing but the truth, but not the whole truth.</a:t>
            </a:r>
          </a:p>
        </p:txBody>
      </p:sp>
      <p:sp>
        <p:nvSpPr>
          <p:cNvPr id="5" name="正方形/長方形 4"/>
          <p:cNvSpPr/>
          <p:nvPr/>
        </p:nvSpPr>
        <p:spPr>
          <a:xfrm>
            <a:off x="251520" y="5373216"/>
            <a:ext cx="798167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3200" dirty="0"/>
              <a:t>質問やツッコミを過度に恐れない</a:t>
            </a:r>
            <a:endParaRPr lang="en-US" altLang="ja-JP" sz="3200" dirty="0"/>
          </a:p>
          <a:p>
            <a:r>
              <a:rPr lang="ja-JP" altLang="en-US" sz="3200" dirty="0"/>
              <a:t>時間を計ってゆっくり話す練習をすること</a:t>
            </a:r>
            <a:endParaRPr lang="en-US" altLang="ja-JP" sz="3200" dirty="0"/>
          </a:p>
        </p:txBody>
      </p:sp>
      <p:pic>
        <p:nvPicPr>
          <p:cNvPr id="9218" name="Picture 2" descr="裁判で証言をする人のイラスト（男性）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3573016"/>
            <a:ext cx="1714500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1853309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パーセル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2205</TotalTime>
  <Words>756</Words>
  <Application>Microsoft Office PowerPoint</Application>
  <PresentationFormat>画面に合わせる (4:3)</PresentationFormat>
  <Paragraphs>91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7" baseType="lpstr">
      <vt:lpstr>游ゴシック</vt:lpstr>
      <vt:lpstr>Arial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watanabe_hiroshi@keio.jp</cp:lastModifiedBy>
  <cp:revision>456</cp:revision>
  <dcterms:created xsi:type="dcterms:W3CDTF">2019-01-02T05:23:01Z</dcterms:created>
  <dcterms:modified xsi:type="dcterms:W3CDTF">2026-01-15T05:53:48Z</dcterms:modified>
</cp:coreProperties>
</file>